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55"/>
    <p:restoredTop sz="94625"/>
  </p:normalViewPr>
  <p:slideViewPr>
    <p:cSldViewPr>
      <p:cViewPr>
        <p:scale>
          <a:sx n="90" d="100"/>
          <a:sy n="90" d="100"/>
        </p:scale>
        <p:origin x="1592" y="1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3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9700" y="408142"/>
            <a:ext cx="35102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249" y="2964800"/>
            <a:ext cx="5341620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38575" y="6381695"/>
            <a:ext cx="1278254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://www.cicloway.com.br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cloway.com.b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3050"/>
            <a:ext cx="12192000" cy="1685289"/>
          </a:xfrm>
          <a:custGeom>
            <a:avLst/>
            <a:gdLst/>
            <a:ahLst/>
            <a:cxnLst/>
            <a:rect l="l" t="t" r="r" b="b"/>
            <a:pathLst>
              <a:path w="12192000" h="1685290">
                <a:moveTo>
                  <a:pt x="0" y="1684949"/>
                </a:moveTo>
                <a:lnTo>
                  <a:pt x="12191999" y="1684949"/>
                </a:lnTo>
                <a:lnTo>
                  <a:pt x="12191999" y="0"/>
                </a:lnTo>
                <a:lnTo>
                  <a:pt x="0" y="0"/>
                </a:lnTo>
                <a:lnTo>
                  <a:pt x="0" y="168494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945005"/>
            </a:xfrm>
            <a:custGeom>
              <a:avLst/>
              <a:gdLst/>
              <a:ahLst/>
              <a:cxnLst/>
              <a:rect l="l" t="t" r="r" b="b"/>
              <a:pathLst>
                <a:path w="12192000" h="1945005">
                  <a:moveTo>
                    <a:pt x="0" y="1944749"/>
                  </a:moveTo>
                  <a:lnTo>
                    <a:pt x="12191999" y="194474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194474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74" y="563527"/>
              <a:ext cx="2013998" cy="466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12191999" y="3228299"/>
                  </a:moveTo>
                  <a:lnTo>
                    <a:pt x="0" y="32282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2282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0" y="0"/>
                  </a:moveTo>
                  <a:lnTo>
                    <a:pt x="12191999" y="0"/>
                  </a:lnTo>
                  <a:lnTo>
                    <a:pt x="12191999" y="3228299"/>
                  </a:lnTo>
                  <a:lnTo>
                    <a:pt x="0" y="322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33000" y="2252541"/>
            <a:ext cx="3640454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450" dirty="0">
                <a:solidFill>
                  <a:srgbClr val="0040DE"/>
                </a:solidFill>
              </a:rPr>
              <a:t>PROPOSTA </a:t>
            </a:r>
            <a:r>
              <a:rPr sz="4800" spc="-440" dirty="0">
                <a:solidFill>
                  <a:srgbClr val="0040DE"/>
                </a:solidFill>
              </a:rPr>
              <a:t>COMERCIAL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433000" y="6334416"/>
            <a:ext cx="2380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112" y="5718386"/>
            <a:ext cx="982300" cy="9257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3000" y="4038600"/>
            <a:ext cx="3640454" cy="712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550" spc="-515" dirty="0">
                <a:solidFill>
                  <a:srgbClr val="1F1F1F"/>
                </a:solidFill>
                <a:latin typeface="Arial Black"/>
                <a:cs typeface="Arial Black"/>
              </a:rPr>
              <a:t>SEGWAY</a:t>
            </a:r>
            <a:endParaRPr sz="455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000" y="4641456"/>
            <a:ext cx="314840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2900" spc="-105" dirty="0">
                <a:solidFill>
                  <a:srgbClr val="0040DE"/>
                </a:solidFill>
                <a:latin typeface="Arial Black"/>
                <a:cs typeface="Arial Black"/>
              </a:rPr>
              <a:t>I2</a:t>
            </a:r>
            <a:endParaRPr sz="2900" dirty="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00350" y="6030621"/>
            <a:ext cx="22244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4"/>
              </a:rPr>
              <a:t>www.cicloway.com.br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37C0ACC-1AB7-BFBC-20E8-BFEA710CB5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262" y="4762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812"/>
            <a:ext cx="12197080" cy="6867525"/>
            <a:chOff x="-4762" y="-4812"/>
            <a:chExt cx="1219708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5049" y="0"/>
              <a:ext cx="782695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5940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940599" y="0"/>
                  </a:lnTo>
                  <a:lnTo>
                    <a:pt x="5940599" y="68579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0" y="0"/>
                  </a:moveTo>
                  <a:lnTo>
                    <a:pt x="5940599" y="0"/>
                  </a:lnTo>
                  <a:lnTo>
                    <a:pt x="59405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QUEM</a:t>
            </a:r>
            <a:r>
              <a:rPr spc="-345" dirty="0"/>
              <a:t> </a:t>
            </a:r>
            <a:r>
              <a:rPr spc="-305" dirty="0"/>
              <a:t>SOMOS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7524" y="1208658"/>
            <a:ext cx="4981575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Cicloway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Comércio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é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neste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setor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2002.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Incorporamos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linha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produção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Manaus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ampla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versátil família</a:t>
            </a:r>
            <a:r>
              <a:rPr sz="1400" spc="4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 Black"/>
                <a:cs typeface="Arial Black"/>
              </a:rPr>
              <a:t>veículos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elétricos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Contamos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hoje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Black"/>
                <a:cs typeface="Arial Black"/>
              </a:rPr>
              <a:t>20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6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patinetes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até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caminhonetes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transporte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pessoas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1500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kgs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carga.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equipe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é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composta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trazem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50</a:t>
            </a:r>
            <a:r>
              <a:rPr sz="14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Black"/>
                <a:cs typeface="Arial Black"/>
              </a:rPr>
              <a:t>anos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experiência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em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comércio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exterior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40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motocicletas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especiais,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30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anos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pioneirismo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3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Associação</a:t>
            </a:r>
            <a:r>
              <a:rPr sz="1400" spc="3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Recicle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Vida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cooperativa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melhor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obra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524" y="5134483"/>
            <a:ext cx="498157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Estamos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aqui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juntos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escrevermos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um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lindo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capítulo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história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400" spc="-30" dirty="0">
                <a:solidFill>
                  <a:srgbClr val="FFFFFF"/>
                </a:solidFill>
                <a:latin typeface="Arial Black"/>
                <a:cs typeface="Arial Black"/>
              </a:rPr>
              <a:t>eletromobilidade</a:t>
            </a:r>
            <a:r>
              <a:rPr sz="1400" spc="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benefício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meio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ambiente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país.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3398" y="5796579"/>
            <a:ext cx="4225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Rua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Heliópolis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nº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05" dirty="0">
                <a:solidFill>
                  <a:srgbClr val="FFFFFF"/>
                </a:solidFill>
                <a:latin typeface="Lucida Sans Unicode"/>
                <a:cs typeface="Lucida Sans Unicode"/>
              </a:rPr>
              <a:t>121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Vila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Hamburguesa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SP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634"/>
            <a:chOff x="0" y="0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5991" y="6191749"/>
              <a:ext cx="353255" cy="3793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"/>
              <a:ext cx="12192000" cy="6858634"/>
            </a:xfrm>
            <a:custGeom>
              <a:avLst/>
              <a:gdLst/>
              <a:ahLst/>
              <a:cxnLst/>
              <a:rect l="l" t="t" r="r" b="b"/>
              <a:pathLst>
                <a:path w="12192000" h="6858634">
                  <a:moveTo>
                    <a:pt x="2045398" y="6328867"/>
                  </a:moveTo>
                  <a:lnTo>
                    <a:pt x="0" y="6328867"/>
                  </a:lnTo>
                  <a:lnTo>
                    <a:pt x="0" y="6858051"/>
                  </a:lnTo>
                  <a:lnTo>
                    <a:pt x="2045398" y="6858051"/>
                  </a:lnTo>
                  <a:lnTo>
                    <a:pt x="2045398" y="6328867"/>
                  </a:lnTo>
                  <a:close/>
                </a:path>
                <a:path w="12192000" h="6858634">
                  <a:moveTo>
                    <a:pt x="5226291" y="0"/>
                  </a:moveTo>
                  <a:lnTo>
                    <a:pt x="0" y="0"/>
                  </a:lnTo>
                  <a:lnTo>
                    <a:pt x="0" y="2016290"/>
                  </a:lnTo>
                  <a:lnTo>
                    <a:pt x="5226291" y="2016290"/>
                  </a:lnTo>
                  <a:lnTo>
                    <a:pt x="5226291" y="0"/>
                  </a:lnTo>
                  <a:close/>
                </a:path>
                <a:path w="12192000" h="6858634">
                  <a:moveTo>
                    <a:pt x="12191898" y="5188623"/>
                  </a:moveTo>
                  <a:lnTo>
                    <a:pt x="8760498" y="5188623"/>
                  </a:lnTo>
                  <a:lnTo>
                    <a:pt x="8760498" y="6858101"/>
                  </a:lnTo>
                  <a:lnTo>
                    <a:pt x="12191898" y="6858101"/>
                  </a:lnTo>
                  <a:lnTo>
                    <a:pt x="12191898" y="5188623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1475" y="328716"/>
            <a:ext cx="498411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pc="-380" dirty="0">
                <a:solidFill>
                  <a:srgbClr val="0040DE"/>
                </a:solidFill>
              </a:rPr>
              <a:t>SOMOS</a:t>
            </a:r>
            <a:r>
              <a:rPr spc="105" dirty="0">
                <a:solidFill>
                  <a:srgbClr val="0040DE"/>
                </a:solidFill>
              </a:rPr>
              <a:t> </a:t>
            </a:r>
            <a:r>
              <a:rPr spc="-455" dirty="0">
                <a:solidFill>
                  <a:srgbClr val="0040DE"/>
                </a:solidFill>
              </a:rPr>
              <a:t>PIONEIROS</a:t>
            </a:r>
            <a:r>
              <a:rPr spc="155" dirty="0">
                <a:solidFill>
                  <a:srgbClr val="0040DE"/>
                </a:solidFill>
              </a:rPr>
              <a:t> </a:t>
            </a:r>
            <a:r>
              <a:rPr spc="-475" dirty="0">
                <a:solidFill>
                  <a:srgbClr val="000000"/>
                </a:solidFill>
              </a:rPr>
              <a:t>EM </a:t>
            </a:r>
            <a:r>
              <a:rPr spc="-430" dirty="0">
                <a:solidFill>
                  <a:srgbClr val="000000"/>
                </a:solidFill>
              </a:rPr>
              <a:t>MOBILIDADE</a:t>
            </a:r>
            <a:r>
              <a:rPr spc="145" dirty="0">
                <a:solidFill>
                  <a:srgbClr val="000000"/>
                </a:solidFill>
              </a:rPr>
              <a:t> </a:t>
            </a:r>
            <a:r>
              <a:rPr spc="-484" dirty="0">
                <a:solidFill>
                  <a:srgbClr val="000000"/>
                </a:solidFill>
              </a:rPr>
              <a:t>ELÉTRICA </a:t>
            </a:r>
            <a:r>
              <a:rPr spc="-270">
                <a:solidFill>
                  <a:srgbClr val="0040DE"/>
                </a:solidFill>
              </a:rPr>
              <a:t>NO</a:t>
            </a:r>
            <a:r>
              <a:rPr spc="-345">
                <a:solidFill>
                  <a:srgbClr val="0040DE"/>
                </a:solidFill>
              </a:rPr>
              <a:t> </a:t>
            </a:r>
            <a:r>
              <a:rPr spc="-480">
                <a:solidFill>
                  <a:srgbClr val="0040DE"/>
                </a:solidFill>
              </a:rPr>
              <a:t>BRASIL</a:t>
            </a:r>
            <a:endParaRPr spc="-480" dirty="0">
              <a:solidFill>
                <a:srgbClr val="0040DE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000" y="6366173"/>
            <a:ext cx="1028924" cy="2418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8150" y="347535"/>
            <a:ext cx="33804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150" dirty="0"/>
              <a:t>SEGWAY</a:t>
            </a:r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591475" y="830643"/>
            <a:ext cx="470344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lang="pt-BR" sz="2100" spc="-240" dirty="0">
                <a:solidFill>
                  <a:srgbClr val="FFFFFF"/>
                </a:solidFill>
                <a:latin typeface="Arial Black"/>
                <a:cs typeface="Arial Black"/>
              </a:rPr>
              <a:t>I2</a:t>
            </a:r>
            <a:endParaRPr sz="2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Prezados,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429259">
              <a:lnSpc>
                <a:spcPct val="100000"/>
              </a:lnSpc>
              <a:spcBef>
                <a:spcPts val="1680"/>
              </a:spcBef>
            </a:pP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Apresentamos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proposta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locação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assistência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completa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Locação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veículo </a:t>
            </a:r>
            <a:r>
              <a:rPr sz="1400" spc="5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BR" sz="140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Segway</a:t>
            </a:r>
            <a:r>
              <a:rPr lang="pt-BR"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I2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sua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respectiva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manutenção,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incluindo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os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descritos.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6069" y="3581268"/>
            <a:ext cx="4682490" cy="2508250"/>
            <a:chOff x="596069" y="3581268"/>
            <a:chExt cx="4682490" cy="2508250"/>
          </a:xfrm>
        </p:grpSpPr>
        <p:sp>
          <p:nvSpPr>
            <p:cNvPr id="5" name="object 5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17423" y="3749602"/>
            <a:ext cx="88836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85" dirty="0">
                <a:solidFill>
                  <a:srgbClr val="0040DE"/>
                </a:solidFill>
                <a:latin typeface="Arial Black"/>
                <a:cs typeface="Arial Black"/>
              </a:rPr>
              <a:t>CLIENTE: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9620" y="4391271"/>
            <a:ext cx="74422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40" dirty="0">
                <a:solidFill>
                  <a:srgbClr val="0040DE"/>
                </a:solidFill>
                <a:latin typeface="Arial Black"/>
                <a:cs typeface="Arial Black"/>
              </a:rPr>
              <a:t>LOCAL: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9878" y="5038657"/>
            <a:ext cx="150368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40DE"/>
                </a:solidFill>
                <a:latin typeface="Arial Black"/>
                <a:cs typeface="Arial Black"/>
              </a:rPr>
              <a:t>Nº</a:t>
            </a:r>
            <a:r>
              <a:rPr sz="1650" spc="-14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150" dirty="0">
                <a:solidFill>
                  <a:srgbClr val="0040DE"/>
                </a:solidFill>
                <a:latin typeface="Arial Black"/>
                <a:cs typeface="Arial Black"/>
              </a:rPr>
              <a:t>PROPOSTA: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0932" y="5693223"/>
            <a:ext cx="60134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105" dirty="0">
                <a:solidFill>
                  <a:srgbClr val="0040DE"/>
                </a:solidFill>
                <a:latin typeface="Arial Black"/>
                <a:cs typeface="Arial Black"/>
              </a:rPr>
              <a:t>DATA: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2184" y="3710764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A195FDF3-BB4A-B9CB-D035-F8976049428C}"/>
              </a:ext>
            </a:extLst>
          </p:cNvPr>
          <p:cNvSpPr txBox="1"/>
          <p:nvPr/>
        </p:nvSpPr>
        <p:spPr>
          <a:xfrm>
            <a:off x="2742184" y="4388097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4" name="object 25">
            <a:extLst>
              <a:ext uri="{FF2B5EF4-FFF2-40B4-BE49-F238E27FC236}">
                <a16:creationId xmlns:a16="http://schemas.microsoft.com/office/drawing/2014/main" id="{6D0C23C2-88AF-2C1C-4639-C3F0FA76CB6B}"/>
              </a:ext>
            </a:extLst>
          </p:cNvPr>
          <p:cNvSpPr txBox="1"/>
          <p:nvPr/>
        </p:nvSpPr>
        <p:spPr>
          <a:xfrm>
            <a:off x="2742184" y="5040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C53ADFB-2F14-6364-2761-297FD60636E7}"/>
              </a:ext>
            </a:extLst>
          </p:cNvPr>
          <p:cNvSpPr txBox="1"/>
          <p:nvPr/>
        </p:nvSpPr>
        <p:spPr>
          <a:xfrm>
            <a:off x="2742184" y="5675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5C4986D-B826-9438-09A4-BD622C67E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5" r="23158"/>
          <a:stretch>
            <a:fillRect/>
          </a:stretch>
        </p:blipFill>
        <p:spPr>
          <a:xfrm>
            <a:off x="5625275" y="0"/>
            <a:ext cx="6566725" cy="69054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098040">
                <a:moveTo>
                  <a:pt x="0" y="2097774"/>
                </a:moveTo>
                <a:lnTo>
                  <a:pt x="12191999" y="2097774"/>
                </a:lnTo>
                <a:lnTo>
                  <a:pt x="12191999" y="0"/>
                </a:lnTo>
                <a:lnTo>
                  <a:pt x="0" y="0"/>
                </a:lnTo>
                <a:lnTo>
                  <a:pt x="0" y="20977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714375"/>
            <a:ext cx="12192000" cy="2143760"/>
          </a:xfrm>
          <a:custGeom>
            <a:avLst/>
            <a:gdLst/>
            <a:ahLst/>
            <a:cxnLst/>
            <a:rect l="l" t="t" r="r" b="b"/>
            <a:pathLst>
              <a:path w="12192000" h="2143759">
                <a:moveTo>
                  <a:pt x="0" y="2143624"/>
                </a:moveTo>
                <a:lnTo>
                  <a:pt x="12191999" y="2143624"/>
                </a:lnTo>
                <a:lnTo>
                  <a:pt x="12191999" y="0"/>
                </a:lnTo>
                <a:lnTo>
                  <a:pt x="0" y="0"/>
                </a:lnTo>
                <a:lnTo>
                  <a:pt x="0" y="214362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048" y="0"/>
            <a:ext cx="12201525" cy="6867525"/>
            <a:chOff x="-4762" y="-4762"/>
            <a:chExt cx="12201525" cy="686752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097775"/>
              <a:ext cx="12192000" cy="2616835"/>
            </a:xfrm>
            <a:custGeom>
              <a:avLst/>
              <a:gdLst/>
              <a:ahLst/>
              <a:cxnLst/>
              <a:rect l="l" t="t" r="r" b="b"/>
              <a:pathLst>
                <a:path w="12192000" h="2616835">
                  <a:moveTo>
                    <a:pt x="12191999" y="2616599"/>
                  </a:moveTo>
                  <a:lnTo>
                    <a:pt x="0" y="2616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6165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85274" y="1042133"/>
              <a:ext cx="8307070" cy="5323205"/>
            </a:xfrm>
            <a:custGeom>
              <a:avLst/>
              <a:gdLst/>
              <a:ahLst/>
              <a:cxnLst/>
              <a:rect l="l" t="t" r="r" b="b"/>
              <a:pathLst>
                <a:path w="8307070" h="5323205">
                  <a:moveTo>
                    <a:pt x="8306724" y="5323199"/>
                  </a:moveTo>
                  <a:lnTo>
                    <a:pt x="226342" y="5323199"/>
                  </a:lnTo>
                  <a:lnTo>
                    <a:pt x="180726" y="5318601"/>
                  </a:lnTo>
                  <a:lnTo>
                    <a:pt x="138239" y="5305412"/>
                  </a:lnTo>
                  <a:lnTo>
                    <a:pt x="99792" y="5284544"/>
                  </a:lnTo>
                  <a:lnTo>
                    <a:pt x="66294" y="5256905"/>
                  </a:lnTo>
                  <a:lnTo>
                    <a:pt x="38655" y="5223407"/>
                  </a:lnTo>
                  <a:lnTo>
                    <a:pt x="17787" y="5184960"/>
                  </a:lnTo>
                  <a:lnTo>
                    <a:pt x="4598" y="5142473"/>
                  </a:lnTo>
                  <a:lnTo>
                    <a:pt x="0" y="5096857"/>
                  </a:lnTo>
                  <a:lnTo>
                    <a:pt x="0" y="226342"/>
                  </a:lnTo>
                  <a:lnTo>
                    <a:pt x="4598" y="180726"/>
                  </a:lnTo>
                  <a:lnTo>
                    <a:pt x="17787" y="138239"/>
                  </a:lnTo>
                  <a:lnTo>
                    <a:pt x="38655" y="99792"/>
                  </a:lnTo>
                  <a:lnTo>
                    <a:pt x="66294" y="66294"/>
                  </a:lnTo>
                  <a:lnTo>
                    <a:pt x="99792" y="38655"/>
                  </a:lnTo>
                  <a:lnTo>
                    <a:pt x="138239" y="17787"/>
                  </a:lnTo>
                  <a:lnTo>
                    <a:pt x="180726" y="4598"/>
                  </a:lnTo>
                  <a:lnTo>
                    <a:pt x="226342" y="0"/>
                  </a:lnTo>
                  <a:lnTo>
                    <a:pt x="8306724" y="0"/>
                  </a:lnTo>
                  <a:lnTo>
                    <a:pt x="8306724" y="532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FICHA</a:t>
            </a:r>
            <a:r>
              <a:rPr spc="-335" dirty="0"/>
              <a:t> </a:t>
            </a:r>
            <a:r>
              <a:rPr spc="-345" dirty="0"/>
              <a:t>TÉCNICA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55971CD-F9DA-CD0A-FC8E-02D41E1932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72"/>
          <a:stretch>
            <a:fillRect/>
          </a:stretch>
        </p:blipFill>
        <p:spPr>
          <a:xfrm>
            <a:off x="4267200" y="1143000"/>
            <a:ext cx="7916990" cy="516156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F2550EC-11AB-ACD7-09FE-E968055E72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5" r="23158"/>
          <a:stretch>
            <a:fillRect/>
          </a:stretch>
        </p:blipFill>
        <p:spPr>
          <a:xfrm>
            <a:off x="-7810" y="1556705"/>
            <a:ext cx="3900905" cy="41021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0">
            <a:extLst>
              <a:ext uri="{FF2B5EF4-FFF2-40B4-BE49-F238E27FC236}">
                <a16:creationId xmlns:a16="http://schemas.microsoft.com/office/drawing/2014/main" id="{0FD48A15-80A3-85F0-CA3D-40F851613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71"/>
          <a:stretch>
            <a:fillRect/>
          </a:stretch>
        </p:blipFill>
        <p:spPr>
          <a:xfrm>
            <a:off x="8153400" y="-104775"/>
            <a:ext cx="4038600" cy="706755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FEA5845C-2EB8-5E63-A720-2E375F6055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832"/>
          <a:stretch>
            <a:fillRect/>
          </a:stretch>
        </p:blipFill>
        <p:spPr>
          <a:xfrm>
            <a:off x="3733800" y="-104775"/>
            <a:ext cx="4419600" cy="7064058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BFED404A-A46A-C376-4068-89668C1C09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247" y="0"/>
            <a:ext cx="380404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15124"/>
            <a:ext cx="12192000" cy="742950"/>
          </a:xfrm>
          <a:custGeom>
            <a:avLst/>
            <a:gdLst/>
            <a:ahLst/>
            <a:cxnLst/>
            <a:rect l="l" t="t" r="r" b="b"/>
            <a:pathLst>
              <a:path w="12192000" h="742950">
                <a:moveTo>
                  <a:pt x="0" y="742874"/>
                </a:moveTo>
                <a:lnTo>
                  <a:pt x="12191999" y="742874"/>
                </a:lnTo>
                <a:lnTo>
                  <a:pt x="12191999" y="0"/>
                </a:lnTo>
                <a:lnTo>
                  <a:pt x="0" y="0"/>
                </a:lnTo>
                <a:lnTo>
                  <a:pt x="0" y="742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2703195"/>
            </a:xfrm>
            <a:custGeom>
              <a:avLst/>
              <a:gdLst/>
              <a:ahLst/>
              <a:cxnLst/>
              <a:rect l="l" t="t" r="r" b="b"/>
              <a:pathLst>
                <a:path w="12192000" h="2703195">
                  <a:moveTo>
                    <a:pt x="0" y="2702924"/>
                  </a:moveTo>
                  <a:lnTo>
                    <a:pt x="12191999" y="2702924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27029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12191999" y="3412199"/>
                  </a:moveTo>
                  <a:lnTo>
                    <a:pt x="0" y="341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4121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0" y="0"/>
                  </a:moveTo>
                  <a:lnTo>
                    <a:pt x="12191999" y="0"/>
                  </a:lnTo>
                  <a:lnTo>
                    <a:pt x="12191999" y="3412199"/>
                  </a:lnTo>
                  <a:lnTo>
                    <a:pt x="0" y="3412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27008" y="3059288"/>
            <a:ext cx="3515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60" dirty="0">
                <a:solidFill>
                  <a:srgbClr val="0040DE"/>
                </a:solidFill>
                <a:latin typeface="Arial Black"/>
                <a:cs typeface="Arial Black"/>
              </a:rPr>
              <a:t>ASSISTÊNCIA</a:t>
            </a:r>
            <a:r>
              <a:rPr sz="14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0040DE"/>
                </a:solidFill>
                <a:latin typeface="Arial Black"/>
                <a:cs typeface="Arial Black"/>
              </a:rPr>
              <a:t>TÉCNICA</a:t>
            </a:r>
            <a:r>
              <a:rPr sz="1400" spc="-10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0040DE"/>
                </a:solidFill>
                <a:latin typeface="Arial Black"/>
                <a:cs typeface="Arial Black"/>
              </a:rPr>
              <a:t>PERSONALIZADA: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7008" y="3570590"/>
            <a:ext cx="43561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50" dirty="0">
                <a:latin typeface="Lucida Sans Unicode"/>
                <a:cs typeface="Lucida Sans Unicode"/>
              </a:rPr>
              <a:t>Equipe</a:t>
            </a:r>
            <a:r>
              <a:rPr sz="1250" spc="4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própria,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80" dirty="0">
                <a:latin typeface="Lucida Sans Unicode"/>
                <a:cs typeface="Lucida Sans Unicode"/>
              </a:rPr>
              <a:t>para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desenvolvimento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70" dirty="0">
                <a:latin typeface="Lucida Sans Unicode"/>
                <a:cs typeface="Lucida Sans Unicode"/>
              </a:rPr>
              <a:t>e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60" dirty="0">
                <a:latin typeface="Lucida Sans Unicode"/>
                <a:cs typeface="Lucida Sans Unicode"/>
              </a:rPr>
              <a:t>fabricação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30" dirty="0">
                <a:latin typeface="Lucida Sans Unicode"/>
                <a:cs typeface="Lucida Sans Unicode"/>
              </a:rPr>
              <a:t>de </a:t>
            </a:r>
            <a:r>
              <a:rPr sz="1250" dirty="0">
                <a:latin typeface="Lucida Sans Unicode"/>
                <a:cs typeface="Lucida Sans Unicode"/>
              </a:rPr>
              <a:t>veículos</a:t>
            </a:r>
            <a:r>
              <a:rPr sz="1250" spc="10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conforme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75" dirty="0">
                <a:latin typeface="Lucida Sans Unicode"/>
                <a:cs typeface="Lucida Sans Unicode"/>
              </a:rPr>
              <a:t>demandas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-10" dirty="0">
                <a:latin typeface="Lucida Sans Unicode"/>
                <a:cs typeface="Lucida Sans Unicode"/>
              </a:rPr>
              <a:t>específicas: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950" y="1111614"/>
            <a:ext cx="4122420" cy="95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adquirir</a:t>
            </a:r>
            <a:r>
              <a:rPr sz="13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ou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locar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Cicloway,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sua </a:t>
            </a:r>
            <a:r>
              <a:rPr sz="13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recebe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apenas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equipamentos, </a:t>
            </a:r>
            <a:r>
              <a:rPr sz="13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mas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uma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Arial Black"/>
                <a:cs typeface="Arial Black"/>
              </a:rPr>
              <a:t>solução</a:t>
            </a:r>
            <a:r>
              <a:rPr sz="135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Arial Black"/>
                <a:cs typeface="Arial Black"/>
              </a:rPr>
              <a:t>completa</a:t>
            </a:r>
            <a:r>
              <a:rPr sz="135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3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inclui: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99700" y="306343"/>
            <a:ext cx="571500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15" dirty="0"/>
              <a:t>DIFERENCIAIS</a:t>
            </a:r>
            <a:r>
              <a:rPr sz="3650" spc="-305" dirty="0"/>
              <a:t> </a:t>
            </a:r>
            <a:r>
              <a:rPr sz="3650" spc="-285" dirty="0"/>
              <a:t>CICLOWAY</a:t>
            </a:r>
            <a:endParaRPr sz="365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4485">
              <a:lnSpc>
                <a:spcPct val="150000"/>
              </a:lnSpc>
              <a:spcBef>
                <a:spcPts val="100"/>
              </a:spcBef>
              <a:buFont typeface="Arial"/>
              <a:buChar char="●"/>
              <a:tabLst>
                <a:tab pos="336550" algn="l"/>
              </a:tabLst>
            </a:pPr>
            <a:r>
              <a:rPr spc="55" dirty="0"/>
              <a:t>Programa</a:t>
            </a:r>
            <a:r>
              <a:rPr spc="-25" dirty="0"/>
              <a:t> </a:t>
            </a:r>
            <a:r>
              <a:rPr dirty="0"/>
              <a:t>pioneiro</a:t>
            </a:r>
            <a:r>
              <a:rPr spc="-25" dirty="0"/>
              <a:t> </a:t>
            </a:r>
            <a:r>
              <a:rPr dirty="0"/>
              <a:t>no</a:t>
            </a:r>
            <a:r>
              <a:rPr spc="-20" dirty="0"/>
              <a:t> </a:t>
            </a:r>
            <a:r>
              <a:rPr dirty="0"/>
              <a:t>Brasil</a:t>
            </a:r>
            <a:r>
              <a:rPr spc="-25" dirty="0"/>
              <a:t> </a:t>
            </a:r>
            <a:r>
              <a:rPr spc="90" dirty="0"/>
              <a:t>em</a:t>
            </a:r>
            <a:r>
              <a:rPr spc="-30" dirty="0"/>
              <a:t> </a:t>
            </a:r>
            <a:r>
              <a:rPr spc="-30" dirty="0">
                <a:latin typeface="Arial Black"/>
                <a:cs typeface="Arial Black"/>
              </a:rPr>
              <a:t>treinamento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70" dirty="0"/>
              <a:t>e</a:t>
            </a:r>
            <a:r>
              <a:rPr spc="-25" dirty="0"/>
              <a:t> </a:t>
            </a:r>
            <a:r>
              <a:rPr spc="-55" dirty="0">
                <a:latin typeface="Arial Black"/>
                <a:cs typeface="Arial Black"/>
              </a:rPr>
              <a:t>certificação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30" dirty="0"/>
              <a:t>de </a:t>
            </a:r>
            <a:r>
              <a:rPr dirty="0"/>
              <a:t>condutores</a:t>
            </a:r>
            <a:r>
              <a:rPr spc="90" dirty="0"/>
              <a:t> </a:t>
            </a:r>
            <a:r>
              <a:rPr spc="55" dirty="0"/>
              <a:t>de</a:t>
            </a:r>
            <a:r>
              <a:rPr spc="95" dirty="0"/>
              <a:t> </a:t>
            </a:r>
            <a:r>
              <a:rPr dirty="0"/>
              <a:t>veículos</a:t>
            </a:r>
            <a:r>
              <a:rPr spc="95" dirty="0"/>
              <a:t> </a:t>
            </a:r>
            <a:r>
              <a:rPr spc="-10" dirty="0"/>
              <a:t>elétricos.</a:t>
            </a:r>
          </a:p>
          <a:p>
            <a:pPr marL="336550" marR="34353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70" dirty="0">
                <a:latin typeface="Arial Black"/>
                <a:cs typeface="Arial Black"/>
              </a:rPr>
              <a:t>Experiência</a:t>
            </a:r>
            <a:r>
              <a:rPr spc="-70" dirty="0"/>
              <a:t>:</a:t>
            </a:r>
            <a:r>
              <a:rPr spc="-45" dirty="0"/>
              <a:t> </a:t>
            </a:r>
            <a:r>
              <a:rPr spc="60" dirty="0"/>
              <a:t>quase</a:t>
            </a:r>
            <a:r>
              <a:rPr spc="-45" dirty="0"/>
              <a:t> </a:t>
            </a:r>
            <a:r>
              <a:rPr spc="-40" dirty="0"/>
              <a:t>20 </a:t>
            </a:r>
            <a:r>
              <a:rPr spc="55" dirty="0"/>
              <a:t>anos</a:t>
            </a:r>
            <a:r>
              <a:rPr spc="-45" dirty="0"/>
              <a:t> </a:t>
            </a:r>
            <a:r>
              <a:rPr spc="90" dirty="0"/>
              <a:t>com</a:t>
            </a:r>
            <a:r>
              <a:rPr spc="-40" dirty="0"/>
              <a:t> </a:t>
            </a:r>
            <a:r>
              <a:rPr spc="70" dirty="0"/>
              <a:t>Segway</a:t>
            </a:r>
            <a:r>
              <a:rPr spc="-45" dirty="0"/>
              <a:t> </a:t>
            </a:r>
            <a:r>
              <a:rPr spc="65" dirty="0"/>
              <a:t>(desde</a:t>
            </a:r>
            <a:r>
              <a:rPr spc="-40" dirty="0"/>
              <a:t> </a:t>
            </a:r>
            <a:r>
              <a:rPr dirty="0"/>
              <a:t>2005)</a:t>
            </a:r>
            <a:r>
              <a:rPr spc="-45" dirty="0"/>
              <a:t> </a:t>
            </a:r>
            <a:r>
              <a:rPr spc="70" dirty="0"/>
              <a:t>e</a:t>
            </a:r>
            <a:r>
              <a:rPr spc="-40" dirty="0"/>
              <a:t> </a:t>
            </a:r>
            <a:r>
              <a:rPr spc="-50" dirty="0"/>
              <a:t>7 </a:t>
            </a:r>
            <a:r>
              <a:rPr spc="55" dirty="0"/>
              <a:t>anos</a:t>
            </a:r>
            <a:r>
              <a:rPr spc="-20" dirty="0"/>
              <a:t> </a:t>
            </a:r>
            <a:r>
              <a:rPr spc="90" dirty="0"/>
              <a:t>com</a:t>
            </a:r>
            <a:r>
              <a:rPr spc="-20" dirty="0"/>
              <a:t> </a:t>
            </a:r>
            <a:r>
              <a:rPr dirty="0"/>
              <a:t>triciclos</a:t>
            </a:r>
            <a:r>
              <a:rPr spc="-15" dirty="0"/>
              <a:t> </a:t>
            </a:r>
            <a:r>
              <a:rPr dirty="0"/>
              <a:t>elétricos</a:t>
            </a:r>
            <a:r>
              <a:rPr spc="-20" dirty="0"/>
              <a:t> </a:t>
            </a:r>
            <a:r>
              <a:rPr spc="65" dirty="0"/>
              <a:t>(desde</a:t>
            </a:r>
            <a:r>
              <a:rPr spc="-20" dirty="0"/>
              <a:t> </a:t>
            </a:r>
            <a:r>
              <a:rPr spc="-10" dirty="0"/>
              <a:t>2018).</a:t>
            </a:r>
          </a:p>
          <a:p>
            <a:pPr marL="336550" marR="6667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50" dirty="0">
                <a:latin typeface="Arial Black"/>
                <a:cs typeface="Arial Black"/>
              </a:rPr>
              <a:t>Certificação</a:t>
            </a:r>
            <a:r>
              <a:rPr spc="-60" dirty="0">
                <a:latin typeface="Arial Black"/>
                <a:cs typeface="Arial Black"/>
              </a:rPr>
              <a:t> </a:t>
            </a:r>
            <a:r>
              <a:rPr spc="-50" dirty="0">
                <a:latin typeface="Arial Black"/>
                <a:cs typeface="Arial Black"/>
              </a:rPr>
              <a:t>oficial</a:t>
            </a:r>
            <a:r>
              <a:rPr spc="20" dirty="0">
                <a:latin typeface="Arial Black"/>
                <a:cs typeface="Arial Black"/>
              </a:rPr>
              <a:t> </a:t>
            </a:r>
            <a:r>
              <a:rPr spc="90" dirty="0"/>
              <a:t>com</a:t>
            </a:r>
            <a:r>
              <a:rPr spc="60" dirty="0"/>
              <a:t> </a:t>
            </a:r>
            <a:r>
              <a:rPr spc="50" dirty="0"/>
              <a:t>documento</a:t>
            </a:r>
            <a:r>
              <a:rPr spc="55" dirty="0"/>
              <a:t> </a:t>
            </a:r>
            <a:r>
              <a:rPr dirty="0"/>
              <a:t>auditável</a:t>
            </a:r>
            <a:r>
              <a:rPr spc="60" dirty="0"/>
              <a:t> </a:t>
            </a:r>
            <a:r>
              <a:rPr dirty="0"/>
              <a:t>que</a:t>
            </a:r>
            <a:r>
              <a:rPr spc="60" dirty="0"/>
              <a:t> </a:t>
            </a:r>
            <a:r>
              <a:rPr spc="55" dirty="0"/>
              <a:t>comprova </a:t>
            </a:r>
            <a:r>
              <a:rPr spc="50" dirty="0"/>
              <a:t>aptidão</a:t>
            </a:r>
            <a:r>
              <a:rPr spc="5" dirty="0"/>
              <a:t> </a:t>
            </a:r>
            <a:r>
              <a:rPr spc="60" dirty="0"/>
              <a:t>técnica</a:t>
            </a:r>
            <a:r>
              <a:rPr spc="5" dirty="0"/>
              <a:t> </a:t>
            </a:r>
            <a:r>
              <a:rPr spc="70" dirty="0"/>
              <a:t>e</a:t>
            </a:r>
            <a:r>
              <a:rPr spc="5" dirty="0"/>
              <a:t> </a:t>
            </a:r>
            <a:r>
              <a:rPr spc="20" dirty="0"/>
              <a:t>conformidade</a:t>
            </a:r>
            <a:r>
              <a:rPr spc="5" dirty="0"/>
              <a:t> </a:t>
            </a:r>
            <a:r>
              <a:rPr spc="-10" dirty="0"/>
              <a:t>legal.</a:t>
            </a:r>
          </a:p>
          <a:p>
            <a:pPr marL="336550" marR="61785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60" dirty="0">
                <a:latin typeface="Arial Black"/>
                <a:cs typeface="Arial Black"/>
              </a:rPr>
              <a:t>Proteção</a:t>
            </a:r>
            <a:r>
              <a:rPr spc="-80" dirty="0">
                <a:latin typeface="Arial Black"/>
                <a:cs typeface="Arial Black"/>
              </a:rPr>
              <a:t> </a:t>
            </a:r>
            <a:r>
              <a:rPr spc="-45" dirty="0">
                <a:latin typeface="Arial Black"/>
                <a:cs typeface="Arial Black"/>
              </a:rPr>
              <a:t>jurídica</a:t>
            </a:r>
            <a:r>
              <a:rPr spc="-45" dirty="0"/>
              <a:t>:</a:t>
            </a:r>
            <a:r>
              <a:rPr spc="40" dirty="0"/>
              <a:t> </a:t>
            </a:r>
            <a:r>
              <a:rPr dirty="0"/>
              <a:t>reduz</a:t>
            </a:r>
            <a:r>
              <a:rPr spc="40" dirty="0"/>
              <a:t> </a:t>
            </a:r>
            <a:r>
              <a:rPr dirty="0"/>
              <a:t>riscos</a:t>
            </a:r>
            <a:r>
              <a:rPr spc="40" dirty="0"/>
              <a:t> </a:t>
            </a:r>
            <a:r>
              <a:rPr dirty="0"/>
              <a:t>operacionais</a:t>
            </a:r>
            <a:r>
              <a:rPr spc="35" dirty="0"/>
              <a:t> </a:t>
            </a:r>
            <a:r>
              <a:rPr spc="70" dirty="0"/>
              <a:t>e</a:t>
            </a:r>
            <a:r>
              <a:rPr spc="40" dirty="0"/>
              <a:t> </a:t>
            </a:r>
            <a:r>
              <a:rPr spc="-10" dirty="0"/>
              <a:t>passivos </a:t>
            </a:r>
            <a:r>
              <a:rPr spc="10" dirty="0"/>
              <a:t>trabalhistas</a:t>
            </a:r>
            <a:r>
              <a:rPr spc="30" dirty="0"/>
              <a:t> </a:t>
            </a:r>
            <a:r>
              <a:rPr spc="90" dirty="0"/>
              <a:t>com</a:t>
            </a:r>
            <a:r>
              <a:rPr spc="30" dirty="0"/>
              <a:t> </a:t>
            </a:r>
            <a:r>
              <a:rPr spc="70" dirty="0"/>
              <a:t>documentação</a:t>
            </a:r>
            <a:r>
              <a:rPr spc="30" dirty="0"/>
              <a:t> </a:t>
            </a:r>
            <a:r>
              <a:rPr spc="-10" dirty="0"/>
              <a:t>completa.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77023" y="0"/>
            <a:ext cx="11523345" cy="6600190"/>
            <a:chOff x="177023" y="0"/>
            <a:chExt cx="11523345" cy="660019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2856" y="0"/>
              <a:ext cx="5277142" cy="2702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25175" y="5342699"/>
              <a:ext cx="2574925" cy="402590"/>
            </a:xfrm>
            <a:custGeom>
              <a:avLst/>
              <a:gdLst/>
              <a:ahLst/>
              <a:cxnLst/>
              <a:rect l="l" t="t" r="r" b="b"/>
              <a:pathLst>
                <a:path w="2574925" h="402589">
                  <a:moveTo>
                    <a:pt x="2373599" y="401999"/>
                  </a:moveTo>
                  <a:lnTo>
                    <a:pt x="200999" y="401999"/>
                  </a:lnTo>
                  <a:lnTo>
                    <a:pt x="154912" y="396691"/>
                  </a:lnTo>
                  <a:lnTo>
                    <a:pt x="112605" y="381570"/>
                  </a:lnTo>
                  <a:lnTo>
                    <a:pt x="75284" y="357842"/>
                  </a:lnTo>
                  <a:lnTo>
                    <a:pt x="44157" y="326715"/>
                  </a:lnTo>
                  <a:lnTo>
                    <a:pt x="20429" y="289394"/>
                  </a:lnTo>
                  <a:lnTo>
                    <a:pt x="5308" y="247087"/>
                  </a:lnTo>
                  <a:lnTo>
                    <a:pt x="0" y="200999"/>
                  </a:lnTo>
                  <a:lnTo>
                    <a:pt x="5308" y="154912"/>
                  </a:lnTo>
                  <a:lnTo>
                    <a:pt x="20429" y="112605"/>
                  </a:lnTo>
                  <a:lnTo>
                    <a:pt x="44157" y="75284"/>
                  </a:lnTo>
                  <a:lnTo>
                    <a:pt x="75284" y="44157"/>
                  </a:lnTo>
                  <a:lnTo>
                    <a:pt x="112605" y="20429"/>
                  </a:lnTo>
                  <a:lnTo>
                    <a:pt x="154912" y="5308"/>
                  </a:lnTo>
                  <a:lnTo>
                    <a:pt x="200999" y="0"/>
                  </a:lnTo>
                  <a:lnTo>
                    <a:pt x="2373599" y="0"/>
                  </a:lnTo>
                  <a:lnTo>
                    <a:pt x="2412996" y="3897"/>
                  </a:lnTo>
                  <a:lnTo>
                    <a:pt x="2450519" y="15300"/>
                  </a:lnTo>
                  <a:lnTo>
                    <a:pt x="2485114" y="33770"/>
                  </a:lnTo>
                  <a:lnTo>
                    <a:pt x="2515727" y="58871"/>
                  </a:lnTo>
                  <a:lnTo>
                    <a:pt x="2540829" y="89485"/>
                  </a:lnTo>
                  <a:lnTo>
                    <a:pt x="2559299" y="124080"/>
                  </a:lnTo>
                  <a:lnTo>
                    <a:pt x="2570702" y="161603"/>
                  </a:lnTo>
                  <a:lnTo>
                    <a:pt x="2574599" y="200999"/>
                  </a:lnTo>
                  <a:lnTo>
                    <a:pt x="2569291" y="247087"/>
                  </a:lnTo>
                  <a:lnTo>
                    <a:pt x="2554170" y="289394"/>
                  </a:lnTo>
                  <a:lnTo>
                    <a:pt x="2530442" y="326715"/>
                  </a:lnTo>
                  <a:lnTo>
                    <a:pt x="2499315" y="357842"/>
                  </a:lnTo>
                  <a:lnTo>
                    <a:pt x="2461994" y="381570"/>
                  </a:lnTo>
                  <a:lnTo>
                    <a:pt x="2419687" y="396691"/>
                  </a:lnTo>
                  <a:lnTo>
                    <a:pt x="2373599" y="401999"/>
                  </a:lnTo>
                  <a:close/>
                </a:path>
              </a:pathLst>
            </a:custGeom>
            <a:solidFill>
              <a:srgbClr val="004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82450" y="5417250"/>
            <a:ext cx="17964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Capacidade</a:t>
            </a:r>
            <a:r>
              <a:rPr sz="12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carga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25261" y="4701175"/>
            <a:ext cx="2607310" cy="402590"/>
          </a:xfrm>
          <a:custGeom>
            <a:avLst/>
            <a:gdLst/>
            <a:ahLst/>
            <a:cxnLst/>
            <a:rect l="l" t="t" r="r" b="b"/>
            <a:pathLst>
              <a:path w="2607309" h="402589">
                <a:moveTo>
                  <a:pt x="2405782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2405782" y="0"/>
                </a:lnTo>
                <a:lnTo>
                  <a:pt x="2445178" y="3897"/>
                </a:lnTo>
                <a:lnTo>
                  <a:pt x="2482701" y="15300"/>
                </a:lnTo>
                <a:lnTo>
                  <a:pt x="2517297" y="33770"/>
                </a:lnTo>
                <a:lnTo>
                  <a:pt x="2547910" y="58871"/>
                </a:lnTo>
                <a:lnTo>
                  <a:pt x="2573012" y="89485"/>
                </a:lnTo>
                <a:lnTo>
                  <a:pt x="2591482" y="124080"/>
                </a:lnTo>
                <a:lnTo>
                  <a:pt x="2602884" y="161603"/>
                </a:lnTo>
                <a:lnTo>
                  <a:pt x="2606782" y="200999"/>
                </a:lnTo>
                <a:lnTo>
                  <a:pt x="2601474" y="247087"/>
                </a:lnTo>
                <a:lnTo>
                  <a:pt x="2586352" y="289394"/>
                </a:lnTo>
                <a:lnTo>
                  <a:pt x="2562625" y="326715"/>
                </a:lnTo>
                <a:lnTo>
                  <a:pt x="2531497" y="357842"/>
                </a:lnTo>
                <a:lnTo>
                  <a:pt x="2494177" y="381570"/>
                </a:lnTo>
                <a:lnTo>
                  <a:pt x="2451870" y="396691"/>
                </a:lnTo>
                <a:lnTo>
                  <a:pt x="2405782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59670" y="4775725"/>
            <a:ext cx="23336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Configuração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carrocerias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35603" y="4701175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12354" y="4775725"/>
            <a:ext cx="94234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5" dirty="0">
                <a:solidFill>
                  <a:srgbClr val="FFFFFF"/>
                </a:solidFill>
                <a:latin typeface="Arial Black"/>
                <a:cs typeface="Arial Black"/>
              </a:rPr>
              <a:t>Velocidade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35603" y="5342699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417828" y="5417250"/>
            <a:ext cx="93154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30" dirty="0">
                <a:solidFill>
                  <a:srgbClr val="FFFFFF"/>
                </a:solidFill>
                <a:latin typeface="Arial Black"/>
                <a:cs typeface="Arial Black"/>
              </a:rPr>
              <a:t>Autonomia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307394"/>
            <a:ext cx="586803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/>
              <a:t>TRANSFORME</a:t>
            </a:r>
            <a:r>
              <a:rPr sz="3650" spc="-340" dirty="0"/>
              <a:t> </a:t>
            </a:r>
            <a:r>
              <a:rPr sz="3650" spc="-365" dirty="0"/>
              <a:t>CUSTOS</a:t>
            </a:r>
            <a:r>
              <a:rPr sz="3650" spc="-325" dirty="0"/>
              <a:t> </a:t>
            </a:r>
            <a:r>
              <a:rPr sz="3650" spc="-484" dirty="0"/>
              <a:t>EM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751943"/>
            <a:ext cx="366395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>
                <a:solidFill>
                  <a:srgbClr val="91FFB0"/>
                </a:solidFill>
                <a:latin typeface="Arial Black"/>
                <a:cs typeface="Arial Black"/>
              </a:rPr>
              <a:t>INVESTIMENTOS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449" y="1769719"/>
            <a:ext cx="5431790" cy="1350010"/>
          </a:xfrm>
          <a:custGeom>
            <a:avLst/>
            <a:gdLst/>
            <a:ahLst/>
            <a:cxnLst/>
            <a:rect l="l" t="t" r="r" b="b"/>
            <a:pathLst>
              <a:path w="5431790" h="1350010">
                <a:moveTo>
                  <a:pt x="0" y="674699"/>
                </a:moveTo>
                <a:lnTo>
                  <a:pt x="1694" y="626515"/>
                </a:lnTo>
                <a:lnTo>
                  <a:pt x="6700" y="579245"/>
                </a:lnTo>
                <a:lnTo>
                  <a:pt x="14903" y="533004"/>
                </a:lnTo>
                <a:lnTo>
                  <a:pt x="26191" y="487905"/>
                </a:lnTo>
                <a:lnTo>
                  <a:pt x="40448" y="444064"/>
                </a:lnTo>
                <a:lnTo>
                  <a:pt x="57560" y="401593"/>
                </a:lnTo>
                <a:lnTo>
                  <a:pt x="77414" y="360608"/>
                </a:lnTo>
                <a:lnTo>
                  <a:pt x="99894" y="321222"/>
                </a:lnTo>
                <a:lnTo>
                  <a:pt x="124887" y="283549"/>
                </a:lnTo>
                <a:lnTo>
                  <a:pt x="152279" y="247705"/>
                </a:lnTo>
                <a:lnTo>
                  <a:pt x="181955" y="213802"/>
                </a:lnTo>
                <a:lnTo>
                  <a:pt x="213802" y="181955"/>
                </a:lnTo>
                <a:lnTo>
                  <a:pt x="247705" y="152279"/>
                </a:lnTo>
                <a:lnTo>
                  <a:pt x="283549" y="124887"/>
                </a:lnTo>
                <a:lnTo>
                  <a:pt x="321222" y="99894"/>
                </a:lnTo>
                <a:lnTo>
                  <a:pt x="360608" y="77414"/>
                </a:lnTo>
                <a:lnTo>
                  <a:pt x="401593" y="57560"/>
                </a:lnTo>
                <a:lnTo>
                  <a:pt x="444064" y="40448"/>
                </a:lnTo>
                <a:lnTo>
                  <a:pt x="487905" y="26191"/>
                </a:lnTo>
                <a:lnTo>
                  <a:pt x="533004" y="14903"/>
                </a:lnTo>
                <a:lnTo>
                  <a:pt x="579245" y="6700"/>
                </a:lnTo>
                <a:lnTo>
                  <a:pt x="626515" y="1694"/>
                </a:lnTo>
                <a:lnTo>
                  <a:pt x="674699" y="0"/>
                </a:lnTo>
                <a:lnTo>
                  <a:pt x="4756799" y="0"/>
                </a:lnTo>
                <a:lnTo>
                  <a:pt x="4805392" y="1750"/>
                </a:lnTo>
                <a:lnTo>
                  <a:pt x="4853450" y="6955"/>
                </a:lnTo>
                <a:lnTo>
                  <a:pt x="4900805" y="15544"/>
                </a:lnTo>
                <a:lnTo>
                  <a:pt x="4947286" y="27446"/>
                </a:lnTo>
                <a:lnTo>
                  <a:pt x="4992722" y="42591"/>
                </a:lnTo>
                <a:lnTo>
                  <a:pt x="5036945" y="60909"/>
                </a:lnTo>
                <a:lnTo>
                  <a:pt x="5079782" y="82328"/>
                </a:lnTo>
                <a:lnTo>
                  <a:pt x="5121065" y="106779"/>
                </a:lnTo>
                <a:lnTo>
                  <a:pt x="5160624" y="134191"/>
                </a:lnTo>
                <a:lnTo>
                  <a:pt x="5198287" y="164493"/>
                </a:lnTo>
                <a:lnTo>
                  <a:pt x="5233884" y="197614"/>
                </a:lnTo>
                <a:lnTo>
                  <a:pt x="5267006" y="233212"/>
                </a:lnTo>
                <a:lnTo>
                  <a:pt x="5297308" y="270875"/>
                </a:lnTo>
                <a:lnTo>
                  <a:pt x="5324720" y="310433"/>
                </a:lnTo>
                <a:lnTo>
                  <a:pt x="5349171" y="351717"/>
                </a:lnTo>
                <a:lnTo>
                  <a:pt x="5370590" y="394554"/>
                </a:lnTo>
                <a:lnTo>
                  <a:pt x="5388907" y="438777"/>
                </a:lnTo>
                <a:lnTo>
                  <a:pt x="5404053" y="484213"/>
                </a:lnTo>
                <a:lnTo>
                  <a:pt x="5415955" y="530694"/>
                </a:lnTo>
                <a:lnTo>
                  <a:pt x="5424544" y="578049"/>
                </a:lnTo>
                <a:lnTo>
                  <a:pt x="5429749" y="626107"/>
                </a:lnTo>
                <a:lnTo>
                  <a:pt x="5431499" y="674699"/>
                </a:lnTo>
                <a:lnTo>
                  <a:pt x="5429805" y="722884"/>
                </a:lnTo>
                <a:lnTo>
                  <a:pt x="5424799" y="770154"/>
                </a:lnTo>
                <a:lnTo>
                  <a:pt x="5416596" y="816395"/>
                </a:lnTo>
                <a:lnTo>
                  <a:pt x="5405308" y="861494"/>
                </a:lnTo>
                <a:lnTo>
                  <a:pt x="5391051" y="905335"/>
                </a:lnTo>
                <a:lnTo>
                  <a:pt x="5373939" y="947806"/>
                </a:lnTo>
                <a:lnTo>
                  <a:pt x="5354085" y="988791"/>
                </a:lnTo>
                <a:lnTo>
                  <a:pt x="5331605" y="1028177"/>
                </a:lnTo>
                <a:lnTo>
                  <a:pt x="5306612" y="1065850"/>
                </a:lnTo>
                <a:lnTo>
                  <a:pt x="5279220" y="1101694"/>
                </a:lnTo>
                <a:lnTo>
                  <a:pt x="5249544" y="1135597"/>
                </a:lnTo>
                <a:lnTo>
                  <a:pt x="5217697" y="1167444"/>
                </a:lnTo>
                <a:lnTo>
                  <a:pt x="5183794" y="1197120"/>
                </a:lnTo>
                <a:lnTo>
                  <a:pt x="5147950" y="1224512"/>
                </a:lnTo>
                <a:lnTo>
                  <a:pt x="5110277" y="1249505"/>
                </a:lnTo>
                <a:lnTo>
                  <a:pt x="5070891" y="1271985"/>
                </a:lnTo>
                <a:lnTo>
                  <a:pt x="5029906" y="1291839"/>
                </a:lnTo>
                <a:lnTo>
                  <a:pt x="4987435" y="1308951"/>
                </a:lnTo>
                <a:lnTo>
                  <a:pt x="4943594" y="1323208"/>
                </a:lnTo>
                <a:lnTo>
                  <a:pt x="4898495" y="1334496"/>
                </a:lnTo>
                <a:lnTo>
                  <a:pt x="4852254" y="1342699"/>
                </a:lnTo>
                <a:lnTo>
                  <a:pt x="4804984" y="1347705"/>
                </a:lnTo>
                <a:lnTo>
                  <a:pt x="4756799" y="1349399"/>
                </a:lnTo>
                <a:lnTo>
                  <a:pt x="674699" y="1349399"/>
                </a:lnTo>
                <a:lnTo>
                  <a:pt x="626515" y="1347705"/>
                </a:lnTo>
                <a:lnTo>
                  <a:pt x="579245" y="1342699"/>
                </a:lnTo>
                <a:lnTo>
                  <a:pt x="533004" y="1334496"/>
                </a:lnTo>
                <a:lnTo>
                  <a:pt x="487905" y="1323208"/>
                </a:lnTo>
                <a:lnTo>
                  <a:pt x="444064" y="1308951"/>
                </a:lnTo>
                <a:lnTo>
                  <a:pt x="401593" y="1291839"/>
                </a:lnTo>
                <a:lnTo>
                  <a:pt x="360608" y="1271985"/>
                </a:lnTo>
                <a:lnTo>
                  <a:pt x="321222" y="1249505"/>
                </a:lnTo>
                <a:lnTo>
                  <a:pt x="283549" y="1224512"/>
                </a:lnTo>
                <a:lnTo>
                  <a:pt x="247705" y="1197120"/>
                </a:lnTo>
                <a:lnTo>
                  <a:pt x="213802" y="1167444"/>
                </a:lnTo>
                <a:lnTo>
                  <a:pt x="181955" y="1135597"/>
                </a:lnTo>
                <a:lnTo>
                  <a:pt x="152279" y="1101694"/>
                </a:lnTo>
                <a:lnTo>
                  <a:pt x="124887" y="1065850"/>
                </a:lnTo>
                <a:lnTo>
                  <a:pt x="99894" y="1028177"/>
                </a:lnTo>
                <a:lnTo>
                  <a:pt x="77414" y="988791"/>
                </a:lnTo>
                <a:lnTo>
                  <a:pt x="57560" y="947806"/>
                </a:lnTo>
                <a:lnTo>
                  <a:pt x="40448" y="905335"/>
                </a:lnTo>
                <a:lnTo>
                  <a:pt x="26191" y="861494"/>
                </a:lnTo>
                <a:lnTo>
                  <a:pt x="14903" y="816395"/>
                </a:lnTo>
                <a:lnTo>
                  <a:pt x="6700" y="770154"/>
                </a:lnTo>
                <a:lnTo>
                  <a:pt x="1694" y="722884"/>
                </a:lnTo>
                <a:lnTo>
                  <a:pt x="0" y="6746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26675" y="1854362"/>
            <a:ext cx="3615054" cy="9296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REDUÇÃO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5" dirty="0">
                <a:solidFill>
                  <a:srgbClr val="91FFB0"/>
                </a:solidFill>
                <a:latin typeface="Arial Black"/>
                <a:cs typeface="Arial Black"/>
              </a:rPr>
              <a:t>ATÉ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30%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INCIDENTES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125"/>
              </a:spcBef>
            </a:pP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Diminuição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falhas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 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treinados.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5901" y="1764957"/>
            <a:ext cx="11037570" cy="1359535"/>
            <a:chOff x="635901" y="1764957"/>
            <a:chExt cx="11037570" cy="13595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01" y="1859319"/>
              <a:ext cx="1017748" cy="12539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36596" y="1769719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4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7"/>
                  </a:lnTo>
                  <a:lnTo>
                    <a:pt x="5370590" y="394554"/>
                  </a:lnTo>
                  <a:lnTo>
                    <a:pt x="5388907" y="438777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44821" y="1859672"/>
            <a:ext cx="3688079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20" dirty="0">
                <a:solidFill>
                  <a:srgbClr val="91FFB0"/>
                </a:solidFill>
                <a:latin typeface="Arial Black"/>
                <a:cs typeface="Arial Black"/>
              </a:rPr>
              <a:t>MITIGAÇÃO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PASSIVOS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TRABALHISTAS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Proteção jurídica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documentação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e certificação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oficial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687" y="1999307"/>
            <a:ext cx="6844030" cy="2742565"/>
            <a:chOff x="513687" y="1999307"/>
            <a:chExt cx="6844030" cy="274256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9421" y="1999307"/>
              <a:ext cx="1017748" cy="8902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8449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2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3" y="484213"/>
                  </a:lnTo>
                  <a:lnTo>
                    <a:pt x="5415955" y="530694"/>
                  </a:lnTo>
                  <a:lnTo>
                    <a:pt x="5424544" y="578049"/>
                  </a:lnTo>
                  <a:lnTo>
                    <a:pt x="5429749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6" y="816395"/>
                  </a:lnTo>
                  <a:lnTo>
                    <a:pt x="5405308" y="861494"/>
                  </a:lnTo>
                  <a:lnTo>
                    <a:pt x="5391051" y="905335"/>
                  </a:lnTo>
                  <a:lnTo>
                    <a:pt x="5373939" y="947806"/>
                  </a:lnTo>
                  <a:lnTo>
                    <a:pt x="5354085" y="988791"/>
                  </a:lnTo>
                  <a:lnTo>
                    <a:pt x="5331605" y="1028177"/>
                  </a:lnTo>
                  <a:lnTo>
                    <a:pt x="5306612" y="1065850"/>
                  </a:lnTo>
                  <a:lnTo>
                    <a:pt x="5279220" y="1101694"/>
                  </a:lnTo>
                  <a:lnTo>
                    <a:pt x="5249544" y="1135597"/>
                  </a:lnTo>
                  <a:lnTo>
                    <a:pt x="5217697" y="1167444"/>
                  </a:lnTo>
                  <a:lnTo>
                    <a:pt x="5183794" y="1197120"/>
                  </a:lnTo>
                  <a:lnTo>
                    <a:pt x="5147950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4" y="1323208"/>
                  </a:lnTo>
                  <a:lnTo>
                    <a:pt x="4898495" y="1334496"/>
                  </a:lnTo>
                  <a:lnTo>
                    <a:pt x="4852254" y="1342699"/>
                  </a:lnTo>
                  <a:lnTo>
                    <a:pt x="4804984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6675" y="3477369"/>
            <a:ext cx="35960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55" dirty="0">
                <a:solidFill>
                  <a:srgbClr val="91FFB0"/>
                </a:solidFill>
                <a:latin typeface="Arial Black"/>
                <a:cs typeface="Arial Black"/>
              </a:rPr>
              <a:t>MENOR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CUSTO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MANUTENÇÃO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Aumento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vida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útil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operação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correta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consciente.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0475" y="3382653"/>
            <a:ext cx="10952480" cy="1359535"/>
            <a:chOff x="720475" y="3382653"/>
            <a:chExt cx="10952480" cy="135953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475" y="3554766"/>
              <a:ext cx="933172" cy="10315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36596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44821" y="3477369"/>
            <a:ext cx="36106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30" dirty="0">
                <a:solidFill>
                  <a:srgbClr val="91FFB0"/>
                </a:solidFill>
                <a:latin typeface="Arial Black"/>
                <a:cs typeface="Arial Black"/>
              </a:rPr>
              <a:t>VALORIZAÇÃO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PRÁTICAS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ESG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Fortalecimento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imagem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institucional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reputação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3687" y="3617015"/>
            <a:ext cx="11159490" cy="2723515"/>
            <a:chOff x="513687" y="3617015"/>
            <a:chExt cx="11159490" cy="272351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9421" y="3617015"/>
              <a:ext cx="1017748" cy="8085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8449" y="4986170"/>
              <a:ext cx="11149965" cy="1350010"/>
            </a:xfrm>
            <a:custGeom>
              <a:avLst/>
              <a:gdLst/>
              <a:ahLst/>
              <a:cxnLst/>
              <a:rect l="l" t="t" r="r" b="b"/>
              <a:pathLst>
                <a:path w="11149965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10475099" y="0"/>
                  </a:lnTo>
                  <a:lnTo>
                    <a:pt x="10523692" y="1750"/>
                  </a:lnTo>
                  <a:lnTo>
                    <a:pt x="10571750" y="6955"/>
                  </a:lnTo>
                  <a:lnTo>
                    <a:pt x="10619105" y="15544"/>
                  </a:lnTo>
                  <a:lnTo>
                    <a:pt x="10665586" y="27446"/>
                  </a:lnTo>
                  <a:lnTo>
                    <a:pt x="10711022" y="42591"/>
                  </a:lnTo>
                  <a:lnTo>
                    <a:pt x="10755245" y="60909"/>
                  </a:lnTo>
                  <a:lnTo>
                    <a:pt x="10798082" y="82328"/>
                  </a:lnTo>
                  <a:lnTo>
                    <a:pt x="10839365" y="106779"/>
                  </a:lnTo>
                  <a:lnTo>
                    <a:pt x="10878924" y="134191"/>
                  </a:lnTo>
                  <a:lnTo>
                    <a:pt x="10916587" y="164493"/>
                  </a:lnTo>
                  <a:lnTo>
                    <a:pt x="10952184" y="197615"/>
                  </a:lnTo>
                  <a:lnTo>
                    <a:pt x="10985306" y="233212"/>
                  </a:lnTo>
                  <a:lnTo>
                    <a:pt x="11015608" y="270875"/>
                  </a:lnTo>
                  <a:lnTo>
                    <a:pt x="11043020" y="310434"/>
                  </a:lnTo>
                  <a:lnTo>
                    <a:pt x="11067471" y="351717"/>
                  </a:lnTo>
                  <a:lnTo>
                    <a:pt x="11088890" y="394554"/>
                  </a:lnTo>
                  <a:lnTo>
                    <a:pt x="11107207" y="438777"/>
                  </a:lnTo>
                  <a:lnTo>
                    <a:pt x="11122353" y="484213"/>
                  </a:lnTo>
                  <a:lnTo>
                    <a:pt x="11134255" y="530694"/>
                  </a:lnTo>
                  <a:lnTo>
                    <a:pt x="11142844" y="578049"/>
                  </a:lnTo>
                  <a:lnTo>
                    <a:pt x="11148049" y="626107"/>
                  </a:lnTo>
                  <a:lnTo>
                    <a:pt x="11149799" y="674699"/>
                  </a:lnTo>
                  <a:lnTo>
                    <a:pt x="11148105" y="722884"/>
                  </a:lnTo>
                  <a:lnTo>
                    <a:pt x="11143099" y="770154"/>
                  </a:lnTo>
                  <a:lnTo>
                    <a:pt x="11134895" y="816395"/>
                  </a:lnTo>
                  <a:lnTo>
                    <a:pt x="11123608" y="861494"/>
                  </a:lnTo>
                  <a:lnTo>
                    <a:pt x="11109351" y="905336"/>
                  </a:lnTo>
                  <a:lnTo>
                    <a:pt x="11092239" y="947806"/>
                  </a:lnTo>
                  <a:lnTo>
                    <a:pt x="11072385" y="988792"/>
                  </a:lnTo>
                  <a:lnTo>
                    <a:pt x="11049905" y="1028177"/>
                  </a:lnTo>
                  <a:lnTo>
                    <a:pt x="11024912" y="1065850"/>
                  </a:lnTo>
                  <a:lnTo>
                    <a:pt x="10997520" y="1101694"/>
                  </a:lnTo>
                  <a:lnTo>
                    <a:pt x="10967844" y="1135597"/>
                  </a:lnTo>
                  <a:lnTo>
                    <a:pt x="10935997" y="1167444"/>
                  </a:lnTo>
                  <a:lnTo>
                    <a:pt x="10902094" y="1197120"/>
                  </a:lnTo>
                  <a:lnTo>
                    <a:pt x="10866250" y="1224512"/>
                  </a:lnTo>
                  <a:lnTo>
                    <a:pt x="10828577" y="1249505"/>
                  </a:lnTo>
                  <a:lnTo>
                    <a:pt x="10789191" y="1271985"/>
                  </a:lnTo>
                  <a:lnTo>
                    <a:pt x="10748206" y="1291839"/>
                  </a:lnTo>
                  <a:lnTo>
                    <a:pt x="10705735" y="1308951"/>
                  </a:lnTo>
                  <a:lnTo>
                    <a:pt x="10661894" y="1323208"/>
                  </a:lnTo>
                  <a:lnTo>
                    <a:pt x="10616795" y="1334496"/>
                  </a:lnTo>
                  <a:lnTo>
                    <a:pt x="10570554" y="1342699"/>
                  </a:lnTo>
                  <a:lnTo>
                    <a:pt x="10523284" y="1347705"/>
                  </a:lnTo>
                  <a:lnTo>
                    <a:pt x="104750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2"/>
                  </a:lnTo>
                  <a:lnTo>
                    <a:pt x="57560" y="947806"/>
                  </a:lnTo>
                  <a:lnTo>
                    <a:pt x="40448" y="905336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13325" y="5076123"/>
            <a:ext cx="90208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RETORNO</a:t>
            </a:r>
            <a:r>
              <a:rPr sz="1400" spc="-10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0" dirty="0">
                <a:solidFill>
                  <a:srgbClr val="91FFB0"/>
                </a:solidFill>
                <a:latin typeface="Arial Black"/>
                <a:cs typeface="Arial Black"/>
              </a:rPr>
              <a:t>SOBRE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INVESTIMENTO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investimento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paga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rapidamente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redução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custos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operacionais,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menor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rotatividade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pessoal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prevenção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7023" y="5256570"/>
            <a:ext cx="1575435" cy="1343660"/>
            <a:chOff x="177023" y="5256570"/>
            <a:chExt cx="1575435" cy="134366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874" y="5256570"/>
              <a:ext cx="779323" cy="8348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8350" y="2290824"/>
            <a:ext cx="4711700" cy="3545204"/>
          </a:xfrm>
          <a:custGeom>
            <a:avLst/>
            <a:gdLst/>
            <a:ahLst/>
            <a:cxnLst/>
            <a:rect l="l" t="t" r="r" b="b"/>
            <a:pathLst>
              <a:path w="4711700" h="3545204">
                <a:moveTo>
                  <a:pt x="4120388" y="3544799"/>
                </a:moveTo>
                <a:lnTo>
                  <a:pt x="590811" y="3544799"/>
                </a:lnTo>
                <a:lnTo>
                  <a:pt x="542356" y="3542841"/>
                </a:lnTo>
                <a:lnTo>
                  <a:pt x="494979" y="3537067"/>
                </a:lnTo>
                <a:lnTo>
                  <a:pt x="448832" y="3527629"/>
                </a:lnTo>
                <a:lnTo>
                  <a:pt x="404069" y="3514680"/>
                </a:lnTo>
                <a:lnTo>
                  <a:pt x="360841" y="3498371"/>
                </a:lnTo>
                <a:lnTo>
                  <a:pt x="319299" y="3478854"/>
                </a:lnTo>
                <a:lnTo>
                  <a:pt x="279597" y="3456282"/>
                </a:lnTo>
                <a:lnTo>
                  <a:pt x="241886" y="3430807"/>
                </a:lnTo>
                <a:lnTo>
                  <a:pt x="206317" y="3402581"/>
                </a:lnTo>
                <a:lnTo>
                  <a:pt x="173044" y="3371755"/>
                </a:lnTo>
                <a:lnTo>
                  <a:pt x="142218" y="3338482"/>
                </a:lnTo>
                <a:lnTo>
                  <a:pt x="113992" y="3302913"/>
                </a:lnTo>
                <a:lnTo>
                  <a:pt x="88517" y="3265202"/>
                </a:lnTo>
                <a:lnTo>
                  <a:pt x="65945" y="3225500"/>
                </a:lnTo>
                <a:lnTo>
                  <a:pt x="46428" y="3183958"/>
                </a:lnTo>
                <a:lnTo>
                  <a:pt x="30119" y="3140730"/>
                </a:lnTo>
                <a:lnTo>
                  <a:pt x="17170" y="3095967"/>
                </a:lnTo>
                <a:lnTo>
                  <a:pt x="7732" y="3049820"/>
                </a:lnTo>
                <a:lnTo>
                  <a:pt x="1958" y="3002443"/>
                </a:lnTo>
                <a:lnTo>
                  <a:pt x="0" y="2953988"/>
                </a:lnTo>
                <a:lnTo>
                  <a:pt x="0" y="590811"/>
                </a:lnTo>
                <a:lnTo>
                  <a:pt x="1958" y="542356"/>
                </a:lnTo>
                <a:lnTo>
                  <a:pt x="7732" y="494979"/>
                </a:lnTo>
                <a:lnTo>
                  <a:pt x="17170" y="448832"/>
                </a:lnTo>
                <a:lnTo>
                  <a:pt x="30119" y="404069"/>
                </a:lnTo>
                <a:lnTo>
                  <a:pt x="46428" y="360841"/>
                </a:lnTo>
                <a:lnTo>
                  <a:pt x="65945" y="319299"/>
                </a:lnTo>
                <a:lnTo>
                  <a:pt x="88517" y="279597"/>
                </a:lnTo>
                <a:lnTo>
                  <a:pt x="113992" y="241886"/>
                </a:lnTo>
                <a:lnTo>
                  <a:pt x="142218" y="206317"/>
                </a:lnTo>
                <a:lnTo>
                  <a:pt x="173044" y="173044"/>
                </a:lnTo>
                <a:lnTo>
                  <a:pt x="206317" y="142218"/>
                </a:lnTo>
                <a:lnTo>
                  <a:pt x="241886" y="113992"/>
                </a:lnTo>
                <a:lnTo>
                  <a:pt x="279597" y="88517"/>
                </a:lnTo>
                <a:lnTo>
                  <a:pt x="319299" y="65945"/>
                </a:lnTo>
                <a:lnTo>
                  <a:pt x="360841" y="46428"/>
                </a:lnTo>
                <a:lnTo>
                  <a:pt x="404069" y="30119"/>
                </a:lnTo>
                <a:lnTo>
                  <a:pt x="448832" y="17170"/>
                </a:lnTo>
                <a:lnTo>
                  <a:pt x="494979" y="7732"/>
                </a:lnTo>
                <a:lnTo>
                  <a:pt x="542356" y="1958"/>
                </a:lnTo>
                <a:lnTo>
                  <a:pt x="590811" y="0"/>
                </a:lnTo>
                <a:lnTo>
                  <a:pt x="4120388" y="0"/>
                </a:lnTo>
                <a:lnTo>
                  <a:pt x="4172336" y="2286"/>
                </a:lnTo>
                <a:lnTo>
                  <a:pt x="4223536" y="9071"/>
                </a:lnTo>
                <a:lnTo>
                  <a:pt x="4273717" y="20241"/>
                </a:lnTo>
                <a:lnTo>
                  <a:pt x="4322606" y="35684"/>
                </a:lnTo>
                <a:lnTo>
                  <a:pt x="4369932" y="55287"/>
                </a:lnTo>
                <a:lnTo>
                  <a:pt x="4415422" y="78937"/>
                </a:lnTo>
                <a:lnTo>
                  <a:pt x="4458803" y="106522"/>
                </a:lnTo>
                <a:lnTo>
                  <a:pt x="4499805" y="137928"/>
                </a:lnTo>
                <a:lnTo>
                  <a:pt x="4538155" y="173044"/>
                </a:lnTo>
                <a:lnTo>
                  <a:pt x="4573271" y="211394"/>
                </a:lnTo>
                <a:lnTo>
                  <a:pt x="4604677" y="252396"/>
                </a:lnTo>
                <a:lnTo>
                  <a:pt x="4632262" y="295777"/>
                </a:lnTo>
                <a:lnTo>
                  <a:pt x="4655912" y="341267"/>
                </a:lnTo>
                <a:lnTo>
                  <a:pt x="4675515" y="388593"/>
                </a:lnTo>
                <a:lnTo>
                  <a:pt x="4690958" y="437482"/>
                </a:lnTo>
                <a:lnTo>
                  <a:pt x="4702128" y="487663"/>
                </a:lnTo>
                <a:lnTo>
                  <a:pt x="4708913" y="538863"/>
                </a:lnTo>
                <a:lnTo>
                  <a:pt x="4711199" y="590811"/>
                </a:lnTo>
                <a:lnTo>
                  <a:pt x="4711199" y="2953988"/>
                </a:lnTo>
                <a:lnTo>
                  <a:pt x="4709241" y="3002443"/>
                </a:lnTo>
                <a:lnTo>
                  <a:pt x="4703467" y="3049820"/>
                </a:lnTo>
                <a:lnTo>
                  <a:pt x="4694029" y="3095967"/>
                </a:lnTo>
                <a:lnTo>
                  <a:pt x="4681080" y="3140730"/>
                </a:lnTo>
                <a:lnTo>
                  <a:pt x="4664771" y="3183958"/>
                </a:lnTo>
                <a:lnTo>
                  <a:pt x="4645254" y="3225500"/>
                </a:lnTo>
                <a:lnTo>
                  <a:pt x="4622682" y="3265202"/>
                </a:lnTo>
                <a:lnTo>
                  <a:pt x="4597207" y="3302913"/>
                </a:lnTo>
                <a:lnTo>
                  <a:pt x="4568981" y="3338482"/>
                </a:lnTo>
                <a:lnTo>
                  <a:pt x="4538155" y="3371755"/>
                </a:lnTo>
                <a:lnTo>
                  <a:pt x="4504882" y="3402581"/>
                </a:lnTo>
                <a:lnTo>
                  <a:pt x="4469313" y="3430807"/>
                </a:lnTo>
                <a:lnTo>
                  <a:pt x="4431602" y="3456282"/>
                </a:lnTo>
                <a:lnTo>
                  <a:pt x="4391900" y="3478854"/>
                </a:lnTo>
                <a:lnTo>
                  <a:pt x="4350358" y="3498371"/>
                </a:lnTo>
                <a:lnTo>
                  <a:pt x="4307130" y="3514680"/>
                </a:lnTo>
                <a:lnTo>
                  <a:pt x="4262367" y="3527629"/>
                </a:lnTo>
                <a:lnTo>
                  <a:pt x="4216220" y="3537067"/>
                </a:lnTo>
                <a:lnTo>
                  <a:pt x="4168843" y="3542841"/>
                </a:lnTo>
                <a:lnTo>
                  <a:pt x="4120388" y="3544799"/>
                </a:lnTo>
                <a:close/>
              </a:path>
            </a:pathLst>
          </a:custGeom>
          <a:solidFill>
            <a:srgbClr val="91F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450" y="429870"/>
            <a:ext cx="604329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60" dirty="0"/>
              <a:t>METODOLOGIA</a:t>
            </a:r>
            <a:r>
              <a:rPr sz="3650" spc="-345" dirty="0"/>
              <a:t> </a:t>
            </a:r>
            <a:r>
              <a:rPr sz="3650" spc="-430" dirty="0"/>
              <a:t>EXCLUSIVA</a:t>
            </a:r>
            <a:endParaRPr sz="3650"/>
          </a:p>
        </p:txBody>
      </p:sp>
      <p:sp>
        <p:nvSpPr>
          <p:cNvPr id="4" name="object 4"/>
          <p:cNvSpPr txBox="1"/>
          <p:nvPr/>
        </p:nvSpPr>
        <p:spPr>
          <a:xfrm>
            <a:off x="522450" y="874418"/>
            <a:ext cx="9730105" cy="98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59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3650" spc="-35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270" dirty="0">
                <a:solidFill>
                  <a:srgbClr val="91FFB0"/>
                </a:solidFill>
                <a:latin typeface="Arial Black"/>
                <a:cs typeface="Arial Black"/>
              </a:rPr>
              <a:t>3</a:t>
            </a:r>
            <a:r>
              <a:rPr sz="3650" spc="-3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40" dirty="0">
                <a:solidFill>
                  <a:srgbClr val="91FFB0"/>
                </a:solidFill>
                <a:latin typeface="Arial Black"/>
                <a:cs typeface="Arial Black"/>
              </a:rPr>
              <a:t>EIXOS</a:t>
            </a:r>
            <a:endParaRPr sz="3650">
              <a:latin typeface="Arial Black"/>
              <a:cs typeface="Arial Black"/>
            </a:endParaRPr>
          </a:p>
          <a:p>
            <a:pPr marL="81280">
              <a:lnSpc>
                <a:spcPct val="100000"/>
              </a:lnSpc>
              <a:spcBef>
                <a:spcPts val="1485"/>
              </a:spcBef>
            </a:pP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Inspirada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certificações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náuticas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aeronáuticas, 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adaptada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realidade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mobilidade elétrica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brasileira.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099" y="2203050"/>
            <a:ext cx="5989955" cy="1302385"/>
          </a:xfrm>
          <a:custGeom>
            <a:avLst/>
            <a:gdLst/>
            <a:ahLst/>
            <a:cxnLst/>
            <a:rect l="l" t="t" r="r" b="b"/>
            <a:pathLst>
              <a:path w="5989955" h="1302385">
                <a:moveTo>
                  <a:pt x="0" y="650999"/>
                </a:moveTo>
                <a:lnTo>
                  <a:pt x="1785" y="602415"/>
                </a:lnTo>
                <a:lnTo>
                  <a:pt x="7058" y="554800"/>
                </a:lnTo>
                <a:lnTo>
                  <a:pt x="15692" y="508280"/>
                </a:lnTo>
                <a:lnTo>
                  <a:pt x="27562" y="462982"/>
                </a:lnTo>
                <a:lnTo>
                  <a:pt x="42542" y="419032"/>
                </a:lnTo>
                <a:lnTo>
                  <a:pt x="60505" y="376554"/>
                </a:lnTo>
                <a:lnTo>
                  <a:pt x="81326" y="335676"/>
                </a:lnTo>
                <a:lnTo>
                  <a:pt x="104880" y="296523"/>
                </a:lnTo>
                <a:lnTo>
                  <a:pt x="131039" y="259221"/>
                </a:lnTo>
                <a:lnTo>
                  <a:pt x="159679" y="223896"/>
                </a:lnTo>
                <a:lnTo>
                  <a:pt x="190673" y="190673"/>
                </a:lnTo>
                <a:lnTo>
                  <a:pt x="223896" y="159679"/>
                </a:lnTo>
                <a:lnTo>
                  <a:pt x="259221" y="131039"/>
                </a:lnTo>
                <a:lnTo>
                  <a:pt x="296523" y="104880"/>
                </a:lnTo>
                <a:lnTo>
                  <a:pt x="335676" y="81326"/>
                </a:lnTo>
                <a:lnTo>
                  <a:pt x="376554" y="60505"/>
                </a:lnTo>
                <a:lnTo>
                  <a:pt x="419032" y="42542"/>
                </a:lnTo>
                <a:lnTo>
                  <a:pt x="462982" y="27562"/>
                </a:lnTo>
                <a:lnTo>
                  <a:pt x="508280" y="15692"/>
                </a:lnTo>
                <a:lnTo>
                  <a:pt x="554799" y="7058"/>
                </a:lnTo>
                <a:lnTo>
                  <a:pt x="602415" y="1785"/>
                </a:lnTo>
                <a:lnTo>
                  <a:pt x="650999" y="0"/>
                </a:lnTo>
                <a:lnTo>
                  <a:pt x="5338499" y="0"/>
                </a:lnTo>
                <a:lnTo>
                  <a:pt x="5390048" y="2042"/>
                </a:lnTo>
                <a:lnTo>
                  <a:pt x="5440953" y="8109"/>
                </a:lnTo>
                <a:lnTo>
                  <a:pt x="5490997" y="18111"/>
                </a:lnTo>
                <a:lnTo>
                  <a:pt x="5539961" y="31956"/>
                </a:lnTo>
                <a:lnTo>
                  <a:pt x="5587626" y="49554"/>
                </a:lnTo>
                <a:lnTo>
                  <a:pt x="5633775" y="70815"/>
                </a:lnTo>
                <a:lnTo>
                  <a:pt x="5678187" y="95647"/>
                </a:lnTo>
                <a:lnTo>
                  <a:pt x="5720646" y="123962"/>
                </a:lnTo>
                <a:lnTo>
                  <a:pt x="5760932" y="155667"/>
                </a:lnTo>
                <a:lnTo>
                  <a:pt x="5798826" y="190673"/>
                </a:lnTo>
                <a:lnTo>
                  <a:pt x="5833832" y="228567"/>
                </a:lnTo>
                <a:lnTo>
                  <a:pt x="5865537" y="268853"/>
                </a:lnTo>
                <a:lnTo>
                  <a:pt x="5893852" y="311311"/>
                </a:lnTo>
                <a:lnTo>
                  <a:pt x="5918684" y="355724"/>
                </a:lnTo>
                <a:lnTo>
                  <a:pt x="5939945" y="401873"/>
                </a:lnTo>
                <a:lnTo>
                  <a:pt x="5957543" y="449538"/>
                </a:lnTo>
                <a:lnTo>
                  <a:pt x="5971388" y="498502"/>
                </a:lnTo>
                <a:lnTo>
                  <a:pt x="5981390" y="548546"/>
                </a:lnTo>
                <a:lnTo>
                  <a:pt x="5987457" y="599451"/>
                </a:lnTo>
                <a:lnTo>
                  <a:pt x="5989499" y="650999"/>
                </a:lnTo>
                <a:lnTo>
                  <a:pt x="5987714" y="699584"/>
                </a:lnTo>
                <a:lnTo>
                  <a:pt x="5982441" y="747199"/>
                </a:lnTo>
                <a:lnTo>
                  <a:pt x="5973807" y="793719"/>
                </a:lnTo>
                <a:lnTo>
                  <a:pt x="5961937" y="839017"/>
                </a:lnTo>
                <a:lnTo>
                  <a:pt x="5946957" y="882967"/>
                </a:lnTo>
                <a:lnTo>
                  <a:pt x="5928994" y="925445"/>
                </a:lnTo>
                <a:lnTo>
                  <a:pt x="5908173" y="966323"/>
                </a:lnTo>
                <a:lnTo>
                  <a:pt x="5884619" y="1005476"/>
                </a:lnTo>
                <a:lnTo>
                  <a:pt x="5858460" y="1042778"/>
                </a:lnTo>
                <a:lnTo>
                  <a:pt x="5829820" y="1078103"/>
                </a:lnTo>
                <a:lnTo>
                  <a:pt x="5798826" y="1111326"/>
                </a:lnTo>
                <a:lnTo>
                  <a:pt x="5765603" y="1142320"/>
                </a:lnTo>
                <a:lnTo>
                  <a:pt x="5730278" y="1170960"/>
                </a:lnTo>
                <a:lnTo>
                  <a:pt x="5692976" y="1197119"/>
                </a:lnTo>
                <a:lnTo>
                  <a:pt x="5653823" y="1220673"/>
                </a:lnTo>
                <a:lnTo>
                  <a:pt x="5612945" y="1241494"/>
                </a:lnTo>
                <a:lnTo>
                  <a:pt x="5570467" y="1259457"/>
                </a:lnTo>
                <a:lnTo>
                  <a:pt x="5526517" y="1274437"/>
                </a:lnTo>
                <a:lnTo>
                  <a:pt x="5481219" y="1286307"/>
                </a:lnTo>
                <a:lnTo>
                  <a:pt x="5434700" y="1294941"/>
                </a:lnTo>
                <a:lnTo>
                  <a:pt x="5387084" y="1300214"/>
                </a:lnTo>
                <a:lnTo>
                  <a:pt x="5338499" y="1301999"/>
                </a:lnTo>
                <a:lnTo>
                  <a:pt x="650999" y="1301999"/>
                </a:lnTo>
                <a:lnTo>
                  <a:pt x="602415" y="1300214"/>
                </a:lnTo>
                <a:lnTo>
                  <a:pt x="554799" y="1294941"/>
                </a:lnTo>
                <a:lnTo>
                  <a:pt x="508280" y="1286307"/>
                </a:lnTo>
                <a:lnTo>
                  <a:pt x="462982" y="1274437"/>
                </a:lnTo>
                <a:lnTo>
                  <a:pt x="419032" y="1259457"/>
                </a:lnTo>
                <a:lnTo>
                  <a:pt x="376554" y="1241494"/>
                </a:lnTo>
                <a:lnTo>
                  <a:pt x="335676" y="1220673"/>
                </a:lnTo>
                <a:lnTo>
                  <a:pt x="296523" y="1197119"/>
                </a:lnTo>
                <a:lnTo>
                  <a:pt x="259221" y="1170960"/>
                </a:lnTo>
                <a:lnTo>
                  <a:pt x="223896" y="1142320"/>
                </a:lnTo>
                <a:lnTo>
                  <a:pt x="190673" y="1111326"/>
                </a:lnTo>
                <a:lnTo>
                  <a:pt x="159679" y="1078103"/>
                </a:lnTo>
                <a:lnTo>
                  <a:pt x="131039" y="1042778"/>
                </a:lnTo>
                <a:lnTo>
                  <a:pt x="104880" y="1005476"/>
                </a:lnTo>
                <a:lnTo>
                  <a:pt x="81326" y="966323"/>
                </a:lnTo>
                <a:lnTo>
                  <a:pt x="60505" y="925445"/>
                </a:lnTo>
                <a:lnTo>
                  <a:pt x="42542" y="882967"/>
                </a:lnTo>
                <a:lnTo>
                  <a:pt x="27562" y="839017"/>
                </a:lnTo>
                <a:lnTo>
                  <a:pt x="15692" y="793719"/>
                </a:lnTo>
                <a:lnTo>
                  <a:pt x="7058" y="747199"/>
                </a:lnTo>
                <a:lnTo>
                  <a:pt x="1785" y="699584"/>
                </a:lnTo>
                <a:lnTo>
                  <a:pt x="0" y="6509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0950" y="2285802"/>
            <a:ext cx="447929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TEÓRICO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Apostilas,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vídeos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conteúdos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educativos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desenvolvidos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experiência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337" y="2387850"/>
            <a:ext cx="5999480" cy="2533015"/>
            <a:chOff x="516337" y="2387850"/>
            <a:chExt cx="5999480" cy="25330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024" y="2387850"/>
              <a:ext cx="813657" cy="932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099" y="3613724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0950" y="3696478"/>
            <a:ext cx="4124325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PRÁTICO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presencial,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simulações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avaliação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campo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instrutores</a:t>
            </a:r>
            <a:r>
              <a:rPr sz="1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credenciados.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337" y="3798525"/>
            <a:ext cx="5999480" cy="2533015"/>
            <a:chOff x="516337" y="3798525"/>
            <a:chExt cx="5999480" cy="25330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024" y="3798525"/>
              <a:ext cx="813657" cy="9323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1099" y="5024400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10950" y="5107152"/>
            <a:ext cx="37484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25" dirty="0">
                <a:solidFill>
                  <a:srgbClr val="91FFB0"/>
                </a:solidFill>
                <a:latin typeface="Arial Black"/>
                <a:cs typeface="Arial Black"/>
              </a:rPr>
              <a:t>LEGAL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290" dirty="0">
                <a:solidFill>
                  <a:srgbClr val="91FFB0"/>
                </a:solidFill>
                <a:latin typeface="Arial Black"/>
                <a:cs typeface="Arial Black"/>
              </a:rPr>
              <a:t>/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MÉDICO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ART,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laudo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médico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termo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conscientização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assinados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qualificados.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7023" y="5209200"/>
            <a:ext cx="1480820" cy="1390650"/>
            <a:chOff x="177023" y="5209200"/>
            <a:chExt cx="1480820" cy="139065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024" y="5209200"/>
              <a:ext cx="813657" cy="9323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02743" y="3416658"/>
            <a:ext cx="2787650" cy="194563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10" dirty="0">
                <a:latin typeface="Lucida Sans Unicode"/>
                <a:cs typeface="Lucida Sans Unicode"/>
              </a:rPr>
              <a:t>Certificado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oficial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40" dirty="0">
                <a:latin typeface="Lucida Sans Unicode"/>
                <a:cs typeface="Lucida Sans Unicode"/>
              </a:rPr>
              <a:t>Cicloway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65" dirty="0">
                <a:latin typeface="Lucida Sans Unicode"/>
                <a:cs typeface="Lucida Sans Unicode"/>
              </a:rPr>
              <a:t>Documentação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60" dirty="0">
                <a:latin typeface="Lucida Sans Unicode"/>
                <a:cs typeface="Lucida Sans Unicode"/>
              </a:rPr>
              <a:t>completa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70" dirty="0">
                <a:latin typeface="Lucida Sans Unicode"/>
                <a:cs typeface="Lucida Sans Unicode"/>
              </a:rPr>
              <a:t>Validação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técnica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Registro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digital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auditável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Termo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de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conscientização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50" dirty="0">
                <a:latin typeface="Lucida Sans Unicode"/>
                <a:cs typeface="Lucida Sans Unicode"/>
              </a:rPr>
              <a:t>Proteção</a:t>
            </a:r>
            <a:r>
              <a:rPr sz="1400" spc="-6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jurídica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211300" y="2470594"/>
            <a:ext cx="3367404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200" spc="-120" dirty="0">
                <a:solidFill>
                  <a:srgbClr val="0040DE"/>
                </a:solidFill>
                <a:latin typeface="Arial Black"/>
                <a:cs typeface="Arial Black"/>
              </a:rPr>
              <a:t>Ao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0040DE"/>
                </a:solidFill>
                <a:latin typeface="Arial Black"/>
                <a:cs typeface="Arial Black"/>
              </a:rPr>
              <a:t>final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do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programa,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0040DE"/>
                </a:solidFill>
                <a:latin typeface="Arial Black"/>
                <a:cs typeface="Arial Black"/>
              </a:rPr>
              <a:t>o </a:t>
            </a:r>
            <a:r>
              <a:rPr sz="2200" spc="-75" dirty="0">
                <a:solidFill>
                  <a:srgbClr val="0040DE"/>
                </a:solidFill>
                <a:latin typeface="Arial Black"/>
                <a:cs typeface="Arial Black"/>
              </a:rPr>
              <a:t>condutor</a:t>
            </a:r>
            <a:r>
              <a:rPr sz="2200" spc="-15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0040DE"/>
                </a:solidFill>
                <a:latin typeface="Arial Black"/>
                <a:cs typeface="Arial Black"/>
              </a:rPr>
              <a:t>recebe: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434370"/>
            <a:ext cx="621284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70" dirty="0"/>
              <a:t>SERVIÇOS</a:t>
            </a:r>
            <a:r>
              <a:rPr sz="3650" spc="-315" dirty="0"/>
              <a:t> </a:t>
            </a:r>
            <a:r>
              <a:rPr sz="3650" spc="-380" dirty="0"/>
              <a:t>CONTEMPLADOS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878918"/>
            <a:ext cx="244411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715" dirty="0">
                <a:solidFill>
                  <a:srgbClr val="91FFB0"/>
                </a:solidFill>
                <a:latin typeface="Arial Black"/>
                <a:cs typeface="Arial Black"/>
              </a:rPr>
              <a:t>E</a:t>
            </a:r>
            <a:r>
              <a:rPr sz="3650" spc="-35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55" dirty="0">
                <a:solidFill>
                  <a:srgbClr val="91FFB0"/>
                </a:solidFill>
                <a:latin typeface="Arial Black"/>
                <a:cs typeface="Arial Black"/>
              </a:rPr>
              <a:t>VALORES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475" y="1883082"/>
            <a:ext cx="53282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50" dirty="0">
                <a:solidFill>
                  <a:srgbClr val="91FFB0"/>
                </a:solidFill>
                <a:latin typeface="Arial Black"/>
                <a:cs typeface="Arial Black"/>
              </a:rPr>
              <a:t>Atendimento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91FFB0"/>
                </a:solidFill>
                <a:latin typeface="Arial Black"/>
                <a:cs typeface="Arial Black"/>
              </a:rPr>
              <a:t>online</a:t>
            </a:r>
            <a:r>
              <a:rPr sz="1400" spc="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resolução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questões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técnicas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emergência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WhatsApp: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475" y="2949883"/>
            <a:ext cx="162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+55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97078-</a:t>
            </a:r>
            <a:r>
              <a:rPr sz="1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2816.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475" y="3483282"/>
            <a:ext cx="586676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Registro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91FFB0"/>
                </a:solidFill>
                <a:latin typeface="Arial Black"/>
                <a:cs typeface="Arial Black"/>
              </a:rPr>
              <a:t>obrigatório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chamados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técnicos</a:t>
            </a:r>
            <a:r>
              <a:rPr sz="1400" spc="-7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portal,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conferindo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transparência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aos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visualização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tempo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real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quanto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status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reparação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seu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475" y="4763442"/>
            <a:ext cx="593534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Suspensão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91FFB0"/>
                </a:solidFill>
                <a:latin typeface="Arial Black"/>
                <a:cs typeface="Arial Black"/>
              </a:rPr>
              <a:t>da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cobrança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91FFB0"/>
                </a:solidFill>
                <a:latin typeface="Arial Black"/>
                <a:cs typeface="Arial Black"/>
              </a:rPr>
              <a:t>aluguel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caso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reparo ou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substituição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seja realizado dentro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5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(cinco)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dias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úteis,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praça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Paulo,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exceção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danos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causados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mau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uso;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023" y="2738594"/>
            <a:ext cx="11298555" cy="3861435"/>
            <a:chOff x="177023" y="2738594"/>
            <a:chExt cx="11298555" cy="38614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67273" y="2860747"/>
            <a:ext cx="129667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0" dirty="0">
                <a:solidFill>
                  <a:srgbClr val="0040DE"/>
                </a:solidFill>
                <a:latin typeface="Arial Black"/>
                <a:cs typeface="Arial Black"/>
              </a:rPr>
              <a:t>Quantidade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64047" y="3505153"/>
            <a:ext cx="15240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45" dirty="0">
                <a:solidFill>
                  <a:srgbClr val="0040DE"/>
                </a:solidFill>
                <a:latin typeface="Arial Black"/>
                <a:cs typeface="Arial Black"/>
              </a:rPr>
              <a:t>Valor</a:t>
            </a:r>
            <a:r>
              <a:rPr sz="16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7213" y="4150655"/>
            <a:ext cx="151701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0" dirty="0">
                <a:solidFill>
                  <a:srgbClr val="0040DE"/>
                </a:solidFill>
                <a:latin typeface="Arial Black"/>
                <a:cs typeface="Arial Black"/>
              </a:rPr>
              <a:t>Frete</a:t>
            </a:r>
            <a:r>
              <a:rPr sz="1650" spc="-1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75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54345" y="2892206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43876" y="2106824"/>
            <a:ext cx="43783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VALOR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PLANO</a:t>
            </a:r>
            <a:r>
              <a:rPr sz="2200" spc="-1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40" dirty="0">
                <a:solidFill>
                  <a:srgbClr val="91FFB0"/>
                </a:solidFill>
                <a:latin typeface="Arial Black"/>
                <a:cs typeface="Arial Black"/>
              </a:rPr>
              <a:t>LOCAÇÃO: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F36E438F-1C56-4329-7994-D9973CA7F792}"/>
              </a:ext>
            </a:extLst>
          </p:cNvPr>
          <p:cNvSpPr txBox="1"/>
          <p:nvPr/>
        </p:nvSpPr>
        <p:spPr>
          <a:xfrm>
            <a:off x="8954345" y="3523577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F41CB4D1-ADC7-5AD1-78C9-0A65CE69070B}"/>
              </a:ext>
            </a:extLst>
          </p:cNvPr>
          <p:cNvSpPr txBox="1"/>
          <p:nvPr/>
        </p:nvSpPr>
        <p:spPr>
          <a:xfrm>
            <a:off x="8954345" y="4154949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CONDIÇÕES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7023" y="3834091"/>
            <a:ext cx="12015238" cy="2765682"/>
            <a:chOff x="177023" y="3834091"/>
            <a:chExt cx="12015238" cy="276568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4284899" y="1943999"/>
                  </a:move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0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0" y="971999"/>
                  </a:move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1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4077918" y="1944067"/>
                  </a:moveTo>
                  <a:lnTo>
                    <a:pt x="14" y="1944033"/>
                  </a:lnTo>
                  <a:lnTo>
                    <a:pt x="33" y="33"/>
                  </a:lnTo>
                  <a:lnTo>
                    <a:pt x="4077942" y="33"/>
                  </a:lnTo>
                  <a:lnTo>
                    <a:pt x="4077933" y="194405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33" y="33"/>
                  </a:moveTo>
                  <a:lnTo>
                    <a:pt x="4077933" y="33"/>
                  </a:lnTo>
                  <a:lnTo>
                    <a:pt x="4077933" y="1944033"/>
                  </a:lnTo>
                  <a:lnTo>
                    <a:pt x="33" y="1944033"/>
                  </a:lnTo>
                  <a:lnTo>
                    <a:pt x="33" y="33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5375" y="2066209"/>
            <a:ext cx="4542790" cy="2593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210" dirty="0">
                <a:solidFill>
                  <a:srgbClr val="FFFFFF"/>
                </a:solidFill>
                <a:latin typeface="Arial Black"/>
                <a:cs typeface="Arial Black"/>
              </a:rPr>
              <a:t>VALIDADE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135" dirty="0">
                <a:solidFill>
                  <a:srgbClr val="FFFFFF"/>
                </a:solidFill>
                <a:latin typeface="Arial Black"/>
                <a:cs typeface="Arial Black"/>
              </a:rPr>
              <a:t>DA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70" dirty="0">
                <a:solidFill>
                  <a:srgbClr val="FFFFFF"/>
                </a:solidFill>
                <a:latin typeface="Arial Black"/>
                <a:cs typeface="Arial Black"/>
              </a:rPr>
              <a:t>PROPOSTA:</a:t>
            </a:r>
            <a:endParaRPr sz="2050">
              <a:latin typeface="Arial Black"/>
              <a:cs typeface="Arial Black"/>
            </a:endParaRPr>
          </a:p>
          <a:p>
            <a:pPr marL="31750">
              <a:lnSpc>
                <a:spcPct val="100000"/>
              </a:lnSpc>
              <a:spcBef>
                <a:spcPts val="2325"/>
              </a:spcBef>
            </a:pPr>
            <a:r>
              <a:rPr sz="1700" spc="-280" dirty="0">
                <a:solidFill>
                  <a:srgbClr val="91FFB0"/>
                </a:solidFill>
                <a:latin typeface="Lucida Sans Unicode"/>
                <a:cs typeface="Lucida Sans Unicode"/>
              </a:rPr>
              <a:t>10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(de</a:t>
            </a:r>
            <a:r>
              <a:rPr sz="1700" i="1" spc="120" dirty="0">
                <a:solidFill>
                  <a:srgbClr val="91FFB0"/>
                </a:solidFill>
                <a:latin typeface="Cambria"/>
                <a:cs typeface="Cambria"/>
              </a:rPr>
              <a:t>z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)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dias.</a:t>
            </a:r>
            <a:endParaRPr sz="1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sz="2050" spc="-1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254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80" dirty="0">
                <a:solidFill>
                  <a:srgbClr val="FFFFFF"/>
                </a:solidFill>
                <a:latin typeface="Arial Black"/>
                <a:cs typeface="Arial Black"/>
              </a:rPr>
              <a:t>PAGAMENTO:</a:t>
            </a:r>
            <a:endParaRPr sz="2050">
              <a:latin typeface="Arial Black"/>
              <a:cs typeface="Arial Black"/>
            </a:endParaRPr>
          </a:p>
          <a:p>
            <a:pPr marL="31750" marR="5080">
              <a:lnSpc>
                <a:spcPct val="100000"/>
              </a:lnSpc>
              <a:spcBef>
                <a:spcPts val="1905"/>
              </a:spcBef>
            </a:pP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Boleto</a:t>
            </a:r>
            <a:r>
              <a:rPr sz="1700" spc="-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0" dirty="0">
                <a:solidFill>
                  <a:srgbClr val="91FFB0"/>
                </a:solidFill>
                <a:latin typeface="Lucida Sans Unicode"/>
                <a:cs typeface="Lucida Sans Unicode"/>
              </a:rPr>
              <a:t>bancário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14" dirty="0">
                <a:solidFill>
                  <a:srgbClr val="91FFB0"/>
                </a:solidFill>
                <a:latin typeface="Lucida Sans Unicode"/>
                <a:cs typeface="Lucida Sans Unicode"/>
              </a:rPr>
              <a:t>com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vencimento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de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30(trinta)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dias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5" dirty="0">
                <a:solidFill>
                  <a:srgbClr val="91FFB0"/>
                </a:solidFill>
                <a:latin typeface="Lucida Sans Unicode"/>
                <a:cs typeface="Lucida Sans Unicode"/>
              </a:rPr>
              <a:t>após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04" dirty="0">
                <a:solidFill>
                  <a:srgbClr val="91FFB0"/>
                </a:solidFill>
                <a:latin typeface="Lucida Sans Unicode"/>
                <a:cs typeface="Lucida Sans Unicode"/>
              </a:rPr>
              <a:t>a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disponibilização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5" dirty="0">
                <a:solidFill>
                  <a:srgbClr val="91FFB0"/>
                </a:solidFill>
                <a:latin typeface="Lucida Sans Unicode"/>
                <a:cs typeface="Lucida Sans Unicode"/>
              </a:rPr>
              <a:t>do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equipamento.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A965D0A-9D44-153A-7C40-2971860AE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090" y="15240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375" y="3150687"/>
            <a:ext cx="1902920" cy="1081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6197" y="2888315"/>
            <a:ext cx="1717432" cy="1604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762" y="-4762"/>
            <a:ext cx="12201525" cy="2344420"/>
            <a:chOff x="-4762" y="-4762"/>
            <a:chExt cx="12201525" cy="234442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12191999" y="2334599"/>
                  </a:moveTo>
                  <a:lnTo>
                    <a:pt x="0" y="2334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3345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0" y="0"/>
                  </a:moveTo>
                  <a:lnTo>
                    <a:pt x="12191999" y="0"/>
                  </a:lnTo>
                  <a:lnTo>
                    <a:pt x="12191999" y="2334599"/>
                  </a:lnTo>
                  <a:lnTo>
                    <a:pt x="0" y="2334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4762" y="4870537"/>
            <a:ext cx="12201525" cy="1992630"/>
            <a:chOff x="-4762" y="4870537"/>
            <a:chExt cx="12201525" cy="1992630"/>
          </a:xfrm>
        </p:grpSpPr>
        <p:sp>
          <p:nvSpPr>
            <p:cNvPr id="8" name="object 8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12191999" y="1982699"/>
                  </a:moveTo>
                  <a:lnTo>
                    <a:pt x="0" y="19826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9826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0" y="0"/>
                  </a:moveTo>
                  <a:lnTo>
                    <a:pt x="12191999" y="0"/>
                  </a:lnTo>
                  <a:lnTo>
                    <a:pt x="12191999" y="1982699"/>
                  </a:lnTo>
                  <a:lnTo>
                    <a:pt x="0" y="1982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9975" y="3392089"/>
            <a:ext cx="2432049" cy="571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125"/>
            <a:ext cx="4888230" cy="2690495"/>
          </a:xfrm>
          <a:custGeom>
            <a:avLst/>
            <a:gdLst/>
            <a:ahLst/>
            <a:cxnLst/>
            <a:rect l="l" t="t" r="r" b="b"/>
            <a:pathLst>
              <a:path w="4888230" h="2690495">
                <a:moveTo>
                  <a:pt x="0" y="2689874"/>
                </a:moveTo>
                <a:lnTo>
                  <a:pt x="4887899" y="2689874"/>
                </a:lnTo>
                <a:lnTo>
                  <a:pt x="4887899" y="0"/>
                </a:lnTo>
                <a:lnTo>
                  <a:pt x="0" y="0"/>
                </a:lnTo>
                <a:lnTo>
                  <a:pt x="0" y="2689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5135880" cy="6867525"/>
            <a:chOff x="-4762" y="-4762"/>
            <a:chExt cx="5135880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888230" cy="2237105"/>
            </a:xfrm>
            <a:custGeom>
              <a:avLst/>
              <a:gdLst/>
              <a:ahLst/>
              <a:cxnLst/>
              <a:rect l="l" t="t" r="r" b="b"/>
              <a:pathLst>
                <a:path w="4888230" h="2237105">
                  <a:moveTo>
                    <a:pt x="0" y="2236724"/>
                  </a:moveTo>
                  <a:lnTo>
                    <a:pt x="4887899" y="2236724"/>
                  </a:lnTo>
                  <a:lnTo>
                    <a:pt x="4887899" y="0"/>
                  </a:lnTo>
                  <a:lnTo>
                    <a:pt x="0" y="0"/>
                  </a:lnTo>
                  <a:lnTo>
                    <a:pt x="0" y="22367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888230" cy="6858000"/>
            </a:xfrm>
            <a:custGeom>
              <a:avLst/>
              <a:gdLst/>
              <a:ahLst/>
              <a:cxnLst/>
              <a:rect l="l" t="t" r="r" b="b"/>
              <a:pathLst>
                <a:path w="4888230" h="6858000">
                  <a:moveTo>
                    <a:pt x="0" y="0"/>
                  </a:moveTo>
                  <a:lnTo>
                    <a:pt x="4887899" y="0"/>
                  </a:lnTo>
                  <a:lnTo>
                    <a:pt x="48878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650" y="5278834"/>
              <a:ext cx="2655149" cy="615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4" y="2236724"/>
              <a:ext cx="5126355" cy="1931670"/>
            </a:xfrm>
            <a:custGeom>
              <a:avLst/>
              <a:gdLst/>
              <a:ahLst/>
              <a:cxnLst/>
              <a:rect l="l" t="t" r="r" b="b"/>
              <a:pathLst>
                <a:path w="5126355" h="1931670">
                  <a:moveTo>
                    <a:pt x="0" y="0"/>
                  </a:moveTo>
                  <a:lnTo>
                    <a:pt x="5125799" y="0"/>
                  </a:lnTo>
                  <a:lnTo>
                    <a:pt x="5125799" y="1931399"/>
                  </a:lnTo>
                  <a:lnTo>
                    <a:pt x="0" y="193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-4637" y="2231962"/>
            <a:ext cx="5135880" cy="1941195"/>
          </a:xfrm>
          <a:prstGeom prst="rect">
            <a:avLst/>
          </a:prstGeom>
          <a:solidFill>
            <a:srgbClr val="91FFB0"/>
          </a:solidFill>
        </p:spPr>
        <p:txBody>
          <a:bodyPr vert="horz" wrap="square" lIns="0" tIns="65151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5130"/>
              </a:spcBef>
            </a:pPr>
            <a:r>
              <a:rPr sz="4800" spc="-350" dirty="0">
                <a:solidFill>
                  <a:srgbClr val="0040DE"/>
                </a:solidFill>
                <a:latin typeface="Arial Black"/>
                <a:cs typeface="Arial Black"/>
              </a:rPr>
              <a:t>CONTATO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612" y="5997852"/>
            <a:ext cx="2969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7374" y="5997852"/>
            <a:ext cx="2816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0" dirty="0">
                <a:solidFill>
                  <a:srgbClr val="0040DE"/>
                </a:solidFill>
                <a:latin typeface="Lucida Sans Unicode"/>
                <a:cs typeface="Lucida Sans Unicode"/>
                <a:hlinkClick r:id="rId3"/>
              </a:rPr>
              <a:t>www.cicloway.com.br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662" y="563536"/>
            <a:ext cx="982300" cy="925800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31550" y="2251578"/>
            <a:ext cx="2351405" cy="341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40" dirty="0">
                <a:solidFill>
                  <a:srgbClr val="0040DE"/>
                </a:solidFill>
                <a:latin typeface="Lucida Sans Unicode"/>
                <a:cs typeface="Lucida Sans Unicode"/>
              </a:rPr>
              <a:t>ATENCIOSAMENTE,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7825" y="2950891"/>
            <a:ext cx="1708785" cy="802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15" dirty="0">
                <a:solidFill>
                  <a:srgbClr val="0040DE"/>
                </a:solidFill>
                <a:latin typeface="Lucida Sans Unicode"/>
                <a:cs typeface="Lucida Sans Unicode"/>
              </a:rPr>
              <a:t>Xxxxxxxxxxxxxxxx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1700" spc="-170" dirty="0">
                <a:solidFill>
                  <a:srgbClr val="0040DE"/>
                </a:solidFill>
                <a:latin typeface="Lucida Sans Unicode"/>
                <a:cs typeface="Lucida Sans Unicode"/>
              </a:rPr>
              <a:t>(11)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0040DE"/>
                </a:solidFill>
                <a:latin typeface="Lucida Sans Unicode"/>
                <a:cs typeface="Lucida Sans Unicode"/>
              </a:rPr>
              <a:t>9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235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r>
              <a:rPr sz="1700" spc="-70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60" dirty="0">
                <a:solidFill>
                  <a:srgbClr val="0040DE"/>
                </a:solidFill>
                <a:latin typeface="Lucida Sans Unicode"/>
                <a:cs typeface="Lucida Sans Unicode"/>
              </a:rPr>
              <a:t>-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130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</TotalTime>
  <Words>702</Words>
  <Application>Microsoft Macintosh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Cambria</vt:lpstr>
      <vt:lpstr>Lucida Sans Unicode</vt:lpstr>
      <vt:lpstr>Office Theme</vt:lpstr>
      <vt:lpstr>PROPOSTA COMERCIAL</vt:lpstr>
      <vt:lpstr>QUEM SOMOS</vt:lpstr>
      <vt:lpstr>SOMOS PIONEIROS EM MOBILIDADE ELÉTRICA NO BRASIL</vt:lpstr>
      <vt:lpstr>SEGWAY</vt:lpstr>
      <vt:lpstr>FICHA TÉCNICA</vt:lpstr>
      <vt:lpstr>PowerPoint Presentation</vt:lpstr>
      <vt:lpstr>DIFERENCIAIS CICLOWAY</vt:lpstr>
      <vt:lpstr>TRANSFORME CUSTOS EM</vt:lpstr>
      <vt:lpstr>METODOLOGIA EXCLUSIVA</vt:lpstr>
      <vt:lpstr>SERVIÇOS CONTEMPLADOS</vt:lpstr>
      <vt:lpstr>CONDIÇÕES</vt:lpstr>
      <vt:lpstr>PowerPoint Presentation</vt:lpstr>
      <vt:lpstr>ATENCIOSAMENTE,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BESOURO ECO COLETOR L - L</dc:title>
  <cp:lastModifiedBy>Caio Stagni</cp:lastModifiedBy>
  <cp:revision>9</cp:revision>
  <dcterms:created xsi:type="dcterms:W3CDTF">2026-08-17T14:27:28Z</dcterms:created>
  <dcterms:modified xsi:type="dcterms:W3CDTF">2026-08-27T15:04:50Z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2026-08-17T00:00:00Z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2026-08-17T00:00:00Z</vt:filetime>
  </property>
</Properties>
</file>